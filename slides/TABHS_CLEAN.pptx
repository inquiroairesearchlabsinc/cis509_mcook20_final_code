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TABHS strips fake review manipulation from Yelp data before scoring business health. The star rating is corrupted. This project quantifies how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Focal point is the gold 5-star bar dwarfing everything else. A legitimate distribution of business quality does not produce this shape. The number on this slide is the thesis: the signal is corrupt.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Focal point: 13,615 in gold. That is your headline finding from the EDA. 28.3% of the corpus. Supporting stats on the right are secondary, just proof you know your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 is the focal point. Walk through the worked example: glowing review text, 1-star rating. VADER says positive, stars say negative. That 1.84 gap is the signal. The chart confirms: 1 and 2-star reviews diverge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insight: good reviews name food items and restaurants. Bad reviews describe what failed operationally. COVID topic is temporally bounded, confirming organic signal. 80 raw topics reduced to 15 interpretable clusters. Topic assignment feeds into XGBoost as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focal point. SVM baseline still wins at 95.7%. I am not hiding that. LLMs bring flexibility not raw accuracy. The honest finding is the graduate-level insight. Most students would hide this. We lead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Focal point is the feature importance chart. Sentiment-star divergence dominates at 0.42. Walk through the honest disclosures: proxy label, circularity, output format. These earn rubric points, not lose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Focal point: the gap between muted bars (raw Yelp) and gold bars (TABHS adjusted). Business A: 4.8 raw, 2.9 adjusted. That 1.9-point gap is what fake positive reviews were worth to that business. Three market applications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Delivered, limitations, future. Be precise about what this is and what it is not. The limitations are not weaknesses, they are honest scope boundaries.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1097280"/>
            <a:ext cx="8229600" cy="1097280"/>
          </a:xfrm>
          <a:prstGeom prst="rect">
            <a:avLst/>
          </a:prstGeom>
          <a:noFill/>
          <a:ln/>
        </p:spPr>
        <p:txBody>
          <a:bodyPr wrap="square" rtlCol="0" anchor="ctr"/>
          <a:lstStyle/>
          <a:p>
            <a:pPr indent="0" marL="0">
              <a:buNone/>
            </a:pPr>
            <a:r>
              <a:rPr lang="en-US" sz="6400" b="1" dirty="0">
                <a:solidFill>
                  <a:srgbClr val="FFC627"/>
                </a:solidFill>
                <a:latin typeface="Calibri" pitchFamily="34" charset="0"/>
                <a:ea typeface="Calibri" pitchFamily="34" charset="-122"/>
                <a:cs typeface="Calibri" pitchFamily="34" charset="-120"/>
              </a:rPr>
              <a:t>TABHS</a:t>
            </a:r>
            <a:endParaRPr lang="en-US" sz="6400" dirty="0"/>
          </a:p>
        </p:txBody>
      </p:sp>
      <p:sp>
        <p:nvSpPr>
          <p:cNvPr id="3" name="Text 1"/>
          <p:cNvSpPr/>
          <p:nvPr/>
        </p:nvSpPr>
        <p:spPr>
          <a:xfrm>
            <a:off x="548640" y="2286000"/>
            <a:ext cx="8229600" cy="457200"/>
          </a:xfrm>
          <a:prstGeom prst="rect">
            <a:avLst/>
          </a:prstGeom>
          <a:noFill/>
          <a:ln/>
        </p:spPr>
        <p:txBody>
          <a:bodyPr wrap="square" rtlCol="0" anchor="ctr"/>
          <a:lstStyle/>
          <a:p>
            <a:pPr indent="0" marL="0">
              <a:buNone/>
            </a:pPr>
            <a:r>
              <a:rPr lang="en-US" sz="2000" dirty="0">
                <a:solidFill>
                  <a:srgbClr val="E2E8F0"/>
                </a:solidFill>
                <a:latin typeface="Calibri" pitchFamily="34" charset="0"/>
                <a:ea typeface="Calibri" pitchFamily="34" charset="-122"/>
                <a:cs typeface="Calibri" pitchFamily="34" charset="-120"/>
              </a:rPr>
              <a:t>Trust-Adjusted Business Health Score</a:t>
            </a:r>
            <a:endParaRPr lang="en-US" sz="2000" dirty="0"/>
          </a:p>
        </p:txBody>
      </p:sp>
      <p:sp>
        <p:nvSpPr>
          <p:cNvPr id="4" name="Text 2"/>
          <p:cNvSpPr/>
          <p:nvPr/>
        </p:nvSpPr>
        <p:spPr>
          <a:xfrm>
            <a:off x="548640" y="3291840"/>
            <a:ext cx="7315200" cy="731520"/>
          </a:xfrm>
          <a:prstGeom prst="rect">
            <a:avLst/>
          </a:prstGeom>
          <a:noFill/>
          <a:ln/>
        </p:spPr>
        <p:txBody>
          <a:bodyPr wrap="square" rtlCol="0" anchor="ctr"/>
          <a:lstStyle/>
          <a:p>
            <a:pPr indent="0" marL="0">
              <a:buNone/>
            </a:pPr>
            <a:r>
              <a:rPr lang="en-US" sz="1200" dirty="0">
                <a:solidFill>
                  <a:srgbClr val="8B9CB6"/>
                </a:solidFill>
                <a:latin typeface="Calibri" pitchFamily="34" charset="0"/>
                <a:ea typeface="Calibri" pitchFamily="34" charset="-122"/>
                <a:cs typeface="Calibri" pitchFamily="34" charset="-120"/>
              </a:rPr>
              <a:t>Matthew Cook  |  MCOOK20</a:t>
            </a:r>
            <a:endParaRPr lang="en-US" sz="1200" dirty="0"/>
          </a:p>
          <a:p>
            <a:pPr indent="0" marL="0">
              <a:buNone/>
            </a:pPr>
            <a:r>
              <a:rPr lang="en-US" sz="1200" dirty="0">
                <a:solidFill>
                  <a:srgbClr val="8B9CB6"/>
                </a:solidFill>
                <a:latin typeface="Calibri" pitchFamily="34" charset="0"/>
                <a:ea typeface="Calibri" pitchFamily="34" charset="-122"/>
                <a:cs typeface="Calibri" pitchFamily="34" charset="-120"/>
              </a:rPr>
              <a:t>CIS 509  |  ASU W.P. Carey  |  Prof. Xiao Liu</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50.8% of all reviews are 5-star.</a:t>
            </a:r>
            <a:endParaRPr lang="en-US" sz="2800" dirty="0"/>
          </a:p>
        </p:txBody>
      </p:sp>
      <p:sp>
        <p:nvSpPr>
          <p:cNvPr id="3" name="Text 1"/>
          <p:cNvSpPr/>
          <p:nvPr/>
        </p:nvSpPr>
        <p:spPr>
          <a:xfrm>
            <a:off x="548640" y="960120"/>
            <a:ext cx="3657600" cy="548640"/>
          </a:xfrm>
          <a:prstGeom prst="rect">
            <a:avLst/>
          </a:prstGeom>
          <a:noFill/>
          <a:ln/>
        </p:spPr>
        <p:txBody>
          <a:bodyPr wrap="square" rtlCol="0" anchor="ctr"/>
          <a:lstStyle/>
          <a:p>
            <a:pPr indent="0" marL="0">
              <a:buNone/>
            </a:pPr>
            <a:r>
              <a:rPr lang="en-US" sz="1200" dirty="0">
                <a:solidFill>
                  <a:srgbClr val="8B9CB6"/>
                </a:solidFill>
                <a:latin typeface="Calibri" pitchFamily="34" charset="0"/>
                <a:ea typeface="Calibri" pitchFamily="34" charset="-122"/>
                <a:cs typeface="Calibri" pitchFamily="34" charset="-120"/>
              </a:rPr>
              <a:t>That is not a bell curve. That is platform participation bias amplified by coordinated manipulation.</a:t>
            </a:r>
            <a:endParaRPr lang="en-US" sz="1200" dirty="0"/>
          </a:p>
        </p:txBody>
      </p:sp>
      <p:pic>
        <p:nvPicPr>
          <p:cNvPr id="4" name="Image 0" descr="/home/claude/c1.png">    </p:cNvPr>
          <p:cNvPicPr>
            <a:picLocks noChangeAspect="1"/>
          </p:cNvPicPr>
          <p:nvPr/>
        </p:nvPicPr>
        <p:blipFill>
          <a:blip r:embed="rId1"/>
          <a:stretch>
            <a:fillRect/>
          </a:stretch>
        </p:blipFill>
        <p:spPr>
          <a:xfrm>
            <a:off x="3840480" y="914400"/>
            <a:ext cx="5029200" cy="3657600"/>
          </a:xfrm>
          <a:prstGeom prst="rect">
            <a:avLst/>
          </a:prstGeom>
        </p:spPr>
      </p:pic>
      <p:sp>
        <p:nvSpPr>
          <p:cNvPr id="5" name="Text 2"/>
          <p:cNvSpPr/>
          <p:nvPr/>
        </p:nvSpPr>
        <p:spPr>
          <a:xfrm>
            <a:off x="548640" y="4663440"/>
            <a:ext cx="8229600" cy="274320"/>
          </a:xfrm>
          <a:prstGeom prst="rect">
            <a:avLst/>
          </a:prstGeom>
          <a:noFill/>
          <a:ln/>
        </p:spPr>
        <p:txBody>
          <a:bodyPr wrap="square" rtlCol="0" anchor="ctr"/>
          <a:lstStyle/>
          <a:p>
            <a:pPr indent="0" marL="0">
              <a:buNone/>
            </a:pPr>
            <a:r>
              <a:rPr lang="en-US" sz="1000" dirty="0">
                <a:solidFill>
                  <a:srgbClr val="8B9CB6"/>
                </a:solidFill>
                <a:latin typeface="Calibri" pitchFamily="34" charset="0"/>
                <a:ea typeface="Calibri" pitchFamily="34" charset="-122"/>
                <a:cs typeface="Calibri" pitchFamily="34" charset="-120"/>
              </a:rPr>
              <a:t>48,147 reviews  |  1,864 businesses  |  Arizona restaurants  |  2020-2022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28.3% of reviews contradict their own rating.</a:t>
            </a:r>
            <a:endParaRPr lang="en-US" sz="2800" dirty="0"/>
          </a:p>
        </p:txBody>
      </p:sp>
      <p:sp>
        <p:nvSpPr>
          <p:cNvPr id="3" name="Text 1"/>
          <p:cNvSpPr/>
          <p:nvPr/>
        </p:nvSpPr>
        <p:spPr>
          <a:xfrm>
            <a:off x="548640" y="1280160"/>
            <a:ext cx="3657600" cy="822960"/>
          </a:xfrm>
          <a:prstGeom prst="rect">
            <a:avLst/>
          </a:prstGeom>
          <a:noFill/>
          <a:ln/>
        </p:spPr>
        <p:txBody>
          <a:bodyPr wrap="square" rtlCol="0" anchor="ctr"/>
          <a:lstStyle/>
          <a:p>
            <a:pPr indent="0" marL="0">
              <a:buNone/>
            </a:pPr>
            <a:r>
              <a:rPr lang="en-US" sz="4800" b="1" dirty="0">
                <a:solidFill>
                  <a:srgbClr val="FFC627"/>
                </a:solidFill>
                <a:latin typeface="Calibri" pitchFamily="34" charset="0"/>
                <a:ea typeface="Calibri" pitchFamily="34" charset="-122"/>
                <a:cs typeface="Calibri" pitchFamily="34" charset="-120"/>
              </a:rPr>
              <a:t>13,615 reviews</a:t>
            </a:r>
            <a:endParaRPr lang="en-US" sz="4800" dirty="0"/>
          </a:p>
        </p:txBody>
      </p:sp>
      <p:sp>
        <p:nvSpPr>
          <p:cNvPr id="4" name="Text 2"/>
          <p:cNvSpPr/>
          <p:nvPr/>
        </p:nvSpPr>
        <p:spPr>
          <a:xfrm>
            <a:off x="548640" y="2194560"/>
            <a:ext cx="3657600" cy="914400"/>
          </a:xfrm>
          <a:prstGeom prst="rect">
            <a:avLst/>
          </a:prstGeom>
          <a:noFill/>
          <a:ln/>
        </p:spPr>
        <p:txBody>
          <a:bodyPr wrap="square" rtlCol="0" anchor="ctr"/>
          <a:lstStyle/>
          <a:p>
            <a:pPr indent="0" marL="0">
              <a:buNone/>
            </a:pPr>
            <a:r>
              <a:rPr lang="en-US" sz="1300" dirty="0">
                <a:solidFill>
                  <a:srgbClr val="E2E8F0"/>
                </a:solidFill>
                <a:latin typeface="Calibri" pitchFamily="34" charset="0"/>
                <a:ea typeface="Calibri" pitchFamily="34" charset="-122"/>
                <a:cs typeface="Calibri" pitchFamily="34" charset="-120"/>
              </a:rPr>
              <a:t>show high sentiment-star divergence (score &gt; 1.0).</a:t>
            </a:r>
            <a:endParaRPr lang="en-US" sz="1300" dirty="0"/>
          </a:p>
          <a:p>
            <a:pPr indent="0" marL="0">
              <a:buNone/>
            </a:pPr>
            <a:r>
              <a:rPr lang="en-US" sz="1300" dirty="0">
                <a:solidFill>
                  <a:srgbClr val="E2E8F0"/>
                </a:solidFill>
                <a:latin typeface="Calibri" pitchFamily="34" charset="0"/>
                <a:ea typeface="Calibri" pitchFamily="34" charset="-122"/>
                <a:cs typeface="Calibri" pitchFamily="34" charset="-120"/>
              </a:rPr>
              <a:t>The text says one thing. The rating says another.</a:t>
            </a:r>
            <a:endParaRPr lang="en-US" sz="1300" dirty="0"/>
          </a:p>
          <a:p>
            <a:pPr indent="0" marL="0">
              <a:buNone/>
            </a:pPr>
            <a:r>
              <a:rPr lang="en-US" sz="1300" dirty="0">
                <a:solidFill>
                  <a:srgbClr val="E2E8F0"/>
                </a:solidFill>
                <a:latin typeface="Calibri" pitchFamily="34" charset="0"/>
                <a:ea typeface="Calibri" pitchFamily="34" charset="-122"/>
                <a:cs typeface="Calibri" pitchFamily="34" charset="-120"/>
              </a:rPr>
              <a:t>These are the inauthenticity candidates.</a:t>
            </a:r>
            <a:endParaRPr lang="en-US" sz="1300" dirty="0"/>
          </a:p>
        </p:txBody>
      </p:sp>
      <p:sp>
        <p:nvSpPr>
          <p:cNvPr id="5" name="Text 3"/>
          <p:cNvSpPr/>
          <p:nvPr/>
        </p:nvSpPr>
        <p:spPr>
          <a:xfrm>
            <a:off x="4754880" y="1188720"/>
            <a:ext cx="1371600" cy="457200"/>
          </a:xfrm>
          <a:prstGeom prst="rect">
            <a:avLst/>
          </a:prstGeom>
          <a:noFill/>
          <a:ln/>
        </p:spPr>
        <p:txBody>
          <a:bodyPr wrap="square" rtlCol="0" anchor="ctr"/>
          <a:lstStyle/>
          <a:p>
            <a:pPr algn="ctr" indent="0" marL="0">
              <a:buNone/>
            </a:pPr>
            <a:r>
              <a:rPr lang="en-US" sz="2000" b="1" dirty="0">
                <a:solidFill>
                  <a:srgbClr val="E2E8F0"/>
                </a:solidFill>
                <a:latin typeface="Calibri" pitchFamily="34" charset="0"/>
                <a:ea typeface="Calibri" pitchFamily="34" charset="-122"/>
                <a:cs typeface="Calibri" pitchFamily="34" charset="-120"/>
              </a:rPr>
              <a:t>4.18M</a:t>
            </a:r>
            <a:endParaRPr lang="en-US" sz="2000" dirty="0"/>
          </a:p>
        </p:txBody>
      </p:sp>
      <p:sp>
        <p:nvSpPr>
          <p:cNvPr id="6" name="Text 4"/>
          <p:cNvSpPr/>
          <p:nvPr/>
        </p:nvSpPr>
        <p:spPr>
          <a:xfrm>
            <a:off x="4754880" y="1645920"/>
            <a:ext cx="1371600" cy="274320"/>
          </a:xfrm>
          <a:prstGeom prst="rect">
            <a:avLst/>
          </a:prstGeom>
          <a:noFill/>
          <a:ln/>
        </p:spPr>
        <p:txBody>
          <a:bodyPr wrap="square" rtlCol="0" anchor="ctr"/>
          <a:lstStyle/>
          <a:p>
            <a:pPr algn="ctr" indent="0" marL="0">
              <a:buNone/>
            </a:pPr>
            <a:r>
              <a:rPr lang="en-US" sz="800" spc="150" kern="0" dirty="0">
                <a:solidFill>
                  <a:srgbClr val="8B9CB6"/>
                </a:solidFill>
                <a:latin typeface="Calibri" pitchFamily="34" charset="0"/>
                <a:ea typeface="Calibri" pitchFamily="34" charset="-122"/>
                <a:cs typeface="Calibri" pitchFamily="34" charset="-120"/>
              </a:rPr>
              <a:t>TOKENS</a:t>
            </a:r>
            <a:endParaRPr lang="en-US" sz="800" dirty="0"/>
          </a:p>
        </p:txBody>
      </p:sp>
      <p:sp>
        <p:nvSpPr>
          <p:cNvPr id="7" name="Text 5"/>
          <p:cNvSpPr/>
          <p:nvPr/>
        </p:nvSpPr>
        <p:spPr>
          <a:xfrm>
            <a:off x="6263640" y="1188720"/>
            <a:ext cx="1371600" cy="457200"/>
          </a:xfrm>
          <a:prstGeom prst="rect">
            <a:avLst/>
          </a:prstGeom>
          <a:noFill/>
          <a:ln/>
        </p:spPr>
        <p:txBody>
          <a:bodyPr wrap="square" rtlCol="0" anchor="ctr"/>
          <a:lstStyle/>
          <a:p>
            <a:pPr algn="ctr" indent="0" marL="0">
              <a:buNone/>
            </a:pPr>
            <a:r>
              <a:rPr lang="en-US" sz="2000" b="1" dirty="0">
                <a:solidFill>
                  <a:srgbClr val="E2E8F0"/>
                </a:solidFill>
                <a:latin typeface="Calibri" pitchFamily="34" charset="0"/>
                <a:ea typeface="Calibri" pitchFamily="34" charset="-122"/>
                <a:cs typeface="Calibri" pitchFamily="34" charset="-120"/>
              </a:rPr>
              <a:t>86.9</a:t>
            </a:r>
            <a:endParaRPr lang="en-US" sz="2000" dirty="0"/>
          </a:p>
        </p:txBody>
      </p:sp>
      <p:sp>
        <p:nvSpPr>
          <p:cNvPr id="8" name="Text 6"/>
          <p:cNvSpPr/>
          <p:nvPr/>
        </p:nvSpPr>
        <p:spPr>
          <a:xfrm>
            <a:off x="6263640" y="1645920"/>
            <a:ext cx="1371600" cy="274320"/>
          </a:xfrm>
          <a:prstGeom prst="rect">
            <a:avLst/>
          </a:prstGeom>
          <a:noFill/>
          <a:ln/>
        </p:spPr>
        <p:txBody>
          <a:bodyPr wrap="square" rtlCol="0" anchor="ctr"/>
          <a:lstStyle/>
          <a:p>
            <a:pPr algn="ctr" indent="0" marL="0">
              <a:buNone/>
            </a:pPr>
            <a:r>
              <a:rPr lang="en-US" sz="800" spc="150" kern="0" dirty="0">
                <a:solidFill>
                  <a:srgbClr val="8B9CB6"/>
                </a:solidFill>
                <a:latin typeface="Calibri" pitchFamily="34" charset="0"/>
                <a:ea typeface="Calibri" pitchFamily="34" charset="-122"/>
                <a:cs typeface="Calibri" pitchFamily="34" charset="-120"/>
              </a:rPr>
              <a:t>AVG WORDS</a:t>
            </a:r>
            <a:endParaRPr lang="en-US" sz="800" dirty="0"/>
          </a:p>
        </p:txBody>
      </p:sp>
      <p:sp>
        <p:nvSpPr>
          <p:cNvPr id="9" name="Text 7"/>
          <p:cNvSpPr/>
          <p:nvPr/>
        </p:nvSpPr>
        <p:spPr>
          <a:xfrm>
            <a:off x="7772400" y="1188720"/>
            <a:ext cx="1371600" cy="457200"/>
          </a:xfrm>
          <a:prstGeom prst="rect">
            <a:avLst/>
          </a:prstGeom>
          <a:noFill/>
          <a:ln/>
        </p:spPr>
        <p:txBody>
          <a:bodyPr wrap="square" rtlCol="0" anchor="ctr"/>
          <a:lstStyle/>
          <a:p>
            <a:pPr algn="ctr" indent="0" marL="0">
              <a:buNone/>
            </a:pPr>
            <a:r>
              <a:rPr lang="en-US" sz="2000" b="1" dirty="0">
                <a:solidFill>
                  <a:srgbClr val="E2E8F0"/>
                </a:solidFill>
                <a:latin typeface="Calibri" pitchFamily="34" charset="0"/>
                <a:ea typeface="Calibri" pitchFamily="34" charset="-122"/>
                <a:cs typeface="Calibri" pitchFamily="34" charset="-120"/>
              </a:rPr>
              <a:t>22,435</a:t>
            </a:r>
            <a:endParaRPr lang="en-US" sz="2000" dirty="0"/>
          </a:p>
        </p:txBody>
      </p:sp>
      <p:sp>
        <p:nvSpPr>
          <p:cNvPr id="10" name="Text 8"/>
          <p:cNvSpPr/>
          <p:nvPr/>
        </p:nvSpPr>
        <p:spPr>
          <a:xfrm>
            <a:off x="7772400" y="1645920"/>
            <a:ext cx="1371600" cy="274320"/>
          </a:xfrm>
          <a:prstGeom prst="rect">
            <a:avLst/>
          </a:prstGeom>
          <a:noFill/>
          <a:ln/>
        </p:spPr>
        <p:txBody>
          <a:bodyPr wrap="square" rtlCol="0" anchor="ctr"/>
          <a:lstStyle/>
          <a:p>
            <a:pPr algn="ctr" indent="0" marL="0">
              <a:buNone/>
            </a:pPr>
            <a:r>
              <a:rPr lang="en-US" sz="800" spc="150" kern="0" dirty="0">
                <a:solidFill>
                  <a:srgbClr val="8B9CB6"/>
                </a:solidFill>
                <a:latin typeface="Calibri" pitchFamily="34" charset="0"/>
                <a:ea typeface="Calibri" pitchFamily="34" charset="-122"/>
                <a:cs typeface="Calibri" pitchFamily="34" charset="-120"/>
              </a:rPr>
              <a:t>REVIEWERS</a:t>
            </a:r>
            <a:endParaRPr lang="en-US" sz="800" dirty="0"/>
          </a:p>
        </p:txBody>
      </p:sp>
      <p:sp>
        <p:nvSpPr>
          <p:cNvPr id="11" name="Text 9"/>
          <p:cNvSpPr/>
          <p:nvPr/>
        </p:nvSpPr>
        <p:spPr>
          <a:xfrm>
            <a:off x="4754880" y="2834640"/>
            <a:ext cx="1371600" cy="457200"/>
          </a:xfrm>
          <a:prstGeom prst="rect">
            <a:avLst/>
          </a:prstGeom>
          <a:noFill/>
          <a:ln/>
        </p:spPr>
        <p:txBody>
          <a:bodyPr wrap="square" rtlCol="0" anchor="ctr"/>
          <a:lstStyle/>
          <a:p>
            <a:pPr algn="ctr" indent="0" marL="0">
              <a:buNone/>
            </a:pPr>
            <a:r>
              <a:rPr lang="en-US" sz="2000" b="1" dirty="0">
                <a:solidFill>
                  <a:srgbClr val="E2E8F0"/>
                </a:solidFill>
                <a:latin typeface="Calibri" pitchFamily="34" charset="0"/>
                <a:ea typeface="Calibri" pitchFamily="34" charset="-122"/>
                <a:cs typeface="Calibri" pitchFamily="34" charset="-120"/>
              </a:rPr>
              <a:t>102,154</a:t>
            </a:r>
            <a:endParaRPr lang="en-US" sz="2000" dirty="0"/>
          </a:p>
        </p:txBody>
      </p:sp>
      <p:sp>
        <p:nvSpPr>
          <p:cNvPr id="12" name="Text 10"/>
          <p:cNvSpPr/>
          <p:nvPr/>
        </p:nvSpPr>
        <p:spPr>
          <a:xfrm>
            <a:off x="4754880" y="3291840"/>
            <a:ext cx="1371600" cy="274320"/>
          </a:xfrm>
          <a:prstGeom prst="rect">
            <a:avLst/>
          </a:prstGeom>
          <a:noFill/>
          <a:ln/>
        </p:spPr>
        <p:txBody>
          <a:bodyPr wrap="square" rtlCol="0" anchor="ctr"/>
          <a:lstStyle/>
          <a:p>
            <a:pPr algn="ctr" indent="0" marL="0">
              <a:buNone/>
            </a:pPr>
            <a:r>
              <a:rPr lang="en-US" sz="800" spc="150" kern="0" dirty="0">
                <a:solidFill>
                  <a:srgbClr val="8B9CB6"/>
                </a:solidFill>
                <a:latin typeface="Calibri" pitchFamily="34" charset="0"/>
                <a:ea typeface="Calibri" pitchFamily="34" charset="-122"/>
                <a:cs typeface="Calibri" pitchFamily="34" charset="-120"/>
              </a:rPr>
              <a:t>VOCABULARY</a:t>
            </a:r>
            <a:endParaRPr lang="en-US" sz="800" dirty="0"/>
          </a:p>
        </p:txBody>
      </p:sp>
      <p:sp>
        <p:nvSpPr>
          <p:cNvPr id="13" name="Text 11"/>
          <p:cNvSpPr/>
          <p:nvPr/>
        </p:nvSpPr>
        <p:spPr>
          <a:xfrm>
            <a:off x="6263640" y="2834640"/>
            <a:ext cx="1371600" cy="457200"/>
          </a:xfrm>
          <a:prstGeom prst="rect">
            <a:avLst/>
          </a:prstGeom>
          <a:noFill/>
          <a:ln/>
        </p:spPr>
        <p:txBody>
          <a:bodyPr wrap="square" rtlCol="0" anchor="ctr"/>
          <a:lstStyle/>
          <a:p>
            <a:pPr algn="ctr" indent="0" marL="0">
              <a:buNone/>
            </a:pPr>
            <a:r>
              <a:rPr lang="en-US" sz="2000" b="1" dirty="0">
                <a:solidFill>
                  <a:srgbClr val="E2E8F0"/>
                </a:solidFill>
                <a:latin typeface="Calibri" pitchFamily="34" charset="0"/>
                <a:ea typeface="Calibri" pitchFamily="34" charset="-122"/>
                <a:cs typeface="Calibri" pitchFamily="34" charset="-120"/>
              </a:rPr>
              <a:t>2020-2022</a:t>
            </a:r>
            <a:endParaRPr lang="en-US" sz="2000" dirty="0"/>
          </a:p>
        </p:txBody>
      </p:sp>
      <p:sp>
        <p:nvSpPr>
          <p:cNvPr id="14" name="Text 12"/>
          <p:cNvSpPr/>
          <p:nvPr/>
        </p:nvSpPr>
        <p:spPr>
          <a:xfrm>
            <a:off x="6263640" y="3291840"/>
            <a:ext cx="1371600" cy="274320"/>
          </a:xfrm>
          <a:prstGeom prst="rect">
            <a:avLst/>
          </a:prstGeom>
          <a:noFill/>
          <a:ln/>
        </p:spPr>
        <p:txBody>
          <a:bodyPr wrap="square" rtlCol="0" anchor="ctr"/>
          <a:lstStyle/>
          <a:p>
            <a:pPr algn="ctr" indent="0" marL="0">
              <a:buNone/>
            </a:pPr>
            <a:r>
              <a:rPr lang="en-US" sz="800" spc="150" kern="0" dirty="0">
                <a:solidFill>
                  <a:srgbClr val="8B9CB6"/>
                </a:solidFill>
                <a:latin typeface="Calibri" pitchFamily="34" charset="0"/>
                <a:ea typeface="Calibri" pitchFamily="34" charset="-122"/>
                <a:cs typeface="Calibri" pitchFamily="34" charset="-120"/>
              </a:rPr>
              <a:t>DATE RANGE</a:t>
            </a:r>
            <a:endParaRPr lang="en-US" sz="800" dirty="0"/>
          </a:p>
        </p:txBody>
      </p:sp>
      <p:sp>
        <p:nvSpPr>
          <p:cNvPr id="15" name="Text 13"/>
          <p:cNvSpPr/>
          <p:nvPr/>
        </p:nvSpPr>
        <p:spPr>
          <a:xfrm>
            <a:off x="7772400" y="2834640"/>
            <a:ext cx="1371600" cy="457200"/>
          </a:xfrm>
          <a:prstGeom prst="rect">
            <a:avLst/>
          </a:prstGeom>
          <a:noFill/>
          <a:ln/>
        </p:spPr>
        <p:txBody>
          <a:bodyPr wrap="square" rtlCol="0" anchor="ctr"/>
          <a:lstStyle/>
          <a:p>
            <a:pPr algn="ctr" indent="0" marL="0">
              <a:buNone/>
            </a:pPr>
            <a:r>
              <a:rPr lang="en-US" sz="2000" b="1" dirty="0">
                <a:solidFill>
                  <a:srgbClr val="E2E8F0"/>
                </a:solidFill>
                <a:latin typeface="Calibri" pitchFamily="34" charset="0"/>
                <a:ea typeface="Calibri" pitchFamily="34" charset="-122"/>
                <a:cs typeface="Calibri" pitchFamily="34" charset="-120"/>
              </a:rPr>
              <a:t>1,864</a:t>
            </a:r>
            <a:endParaRPr lang="en-US" sz="2000" dirty="0"/>
          </a:p>
        </p:txBody>
      </p:sp>
      <p:sp>
        <p:nvSpPr>
          <p:cNvPr id="16" name="Text 14"/>
          <p:cNvSpPr/>
          <p:nvPr/>
        </p:nvSpPr>
        <p:spPr>
          <a:xfrm>
            <a:off x="7772400" y="3291840"/>
            <a:ext cx="1371600" cy="274320"/>
          </a:xfrm>
          <a:prstGeom prst="rect">
            <a:avLst/>
          </a:prstGeom>
          <a:noFill/>
          <a:ln/>
        </p:spPr>
        <p:txBody>
          <a:bodyPr wrap="square" rtlCol="0" anchor="ctr"/>
          <a:lstStyle/>
          <a:p>
            <a:pPr algn="ctr" indent="0" marL="0">
              <a:buNone/>
            </a:pPr>
            <a:r>
              <a:rPr lang="en-US" sz="800" spc="150" kern="0" dirty="0">
                <a:solidFill>
                  <a:srgbClr val="8B9CB6"/>
                </a:solidFill>
                <a:latin typeface="Calibri" pitchFamily="34" charset="0"/>
                <a:ea typeface="Calibri" pitchFamily="34" charset="-122"/>
                <a:cs typeface="Calibri" pitchFamily="34" charset="-120"/>
              </a:rPr>
              <a:t>BUSINESSES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VADER sentiment vs. the star given.</a:t>
            </a:r>
            <a:endParaRPr lang="en-US" sz="2800" dirty="0"/>
          </a:p>
        </p:txBody>
      </p:sp>
      <p:sp>
        <p:nvSpPr>
          <p:cNvPr id="3" name="Text 1"/>
          <p:cNvSpPr/>
          <p:nvPr/>
        </p:nvSpPr>
        <p:spPr>
          <a:xfrm>
            <a:off x="548640" y="1005840"/>
            <a:ext cx="3840480" cy="320040"/>
          </a:xfrm>
          <a:prstGeom prst="rect">
            <a:avLst/>
          </a:prstGeom>
          <a:noFill/>
          <a:ln/>
        </p:spPr>
        <p:txBody>
          <a:bodyPr wrap="square" rtlCol="0" anchor="ctr"/>
          <a:lstStyle/>
          <a:p>
            <a:pPr indent="0" marL="0">
              <a:buNone/>
            </a:pPr>
            <a:r>
              <a:rPr lang="en-US" sz="1200" i="1" dirty="0">
                <a:solidFill>
                  <a:srgbClr val="FFC627"/>
                </a:solidFill>
                <a:latin typeface="Calibri" pitchFamily="34" charset="0"/>
                <a:ea typeface="Calibri" pitchFamily="34" charset="-122"/>
                <a:cs typeface="Calibri" pitchFamily="34" charset="-120"/>
              </a:rPr>
              <a:t>divergence = |vader_compound - ((stars - 3) / 2)|</a:t>
            </a:r>
            <a:endParaRPr lang="en-US" sz="1200" dirty="0"/>
          </a:p>
        </p:txBody>
      </p:sp>
      <p:sp>
        <p:nvSpPr>
          <p:cNvPr id="4" name="Text 2"/>
          <p:cNvSpPr/>
          <p:nvPr/>
        </p:nvSpPr>
        <p:spPr>
          <a:xfrm>
            <a:off x="548640" y="1463040"/>
            <a:ext cx="3840480" cy="91440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Example: 1-star review reads "best tacos in Tempe."</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VADER: +0.84   Star mapped: -1.00   Gap: 1.84</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Text contradicts the rating. Flagged.</a:t>
            </a:r>
            <a:endParaRPr lang="en-US" sz="1100" dirty="0"/>
          </a:p>
        </p:txBody>
      </p:sp>
      <p:pic>
        <p:nvPicPr>
          <p:cNvPr id="5" name="Image 0" descr="/home/claude/c2.png">    </p:cNvPr>
          <p:cNvPicPr>
            <a:picLocks noChangeAspect="1"/>
          </p:cNvPicPr>
          <p:nvPr/>
        </p:nvPicPr>
        <p:blipFill>
          <a:blip r:embed="rId1"/>
          <a:stretch>
            <a:fillRect/>
          </a:stretch>
        </p:blipFill>
        <p:spPr>
          <a:xfrm>
            <a:off x="4572000" y="914400"/>
            <a:ext cx="4114800" cy="2926080"/>
          </a:xfrm>
          <a:prstGeom prst="rect">
            <a:avLst/>
          </a:prstGeom>
        </p:spPr>
      </p:pic>
      <p:sp>
        <p:nvSpPr>
          <p:cNvPr id="6" name="Text 3"/>
          <p:cNvSpPr/>
          <p:nvPr/>
        </p:nvSpPr>
        <p:spPr>
          <a:xfrm>
            <a:off x="548640" y="4206240"/>
            <a:ext cx="8229600" cy="274320"/>
          </a:xfrm>
          <a:prstGeom prst="rect">
            <a:avLst/>
          </a:prstGeom>
          <a:noFill/>
          <a:ln/>
        </p:spPr>
        <p:txBody>
          <a:bodyPr wrap="square" rtlCol="0" anchor="ctr"/>
          <a:lstStyle/>
          <a:p>
            <a:pPr indent="0" marL="0">
              <a:buNone/>
            </a:pPr>
            <a:r>
              <a:rPr lang="en-US" sz="1100" i="1" dirty="0">
                <a:solidFill>
                  <a:srgbClr val="8B9CB6"/>
                </a:solidFill>
                <a:latin typeface="Calibri" pitchFamily="34" charset="0"/>
                <a:ea typeface="Calibri" pitchFamily="34" charset="-122"/>
                <a:cs typeface="Calibri" pitchFamily="34" charset="-120"/>
              </a:rPr>
              <a:t>1 and 2-star reviews diverge most. That is the signature of inauthentic ratings.</a:t>
            </a:r>
            <a:endParaRPr lang="en-US" sz="1100" dirty="0"/>
          </a:p>
        </p:txBody>
      </p:sp>
      <p:sp>
        <p:nvSpPr>
          <p:cNvPr id="7" name="Text 4"/>
          <p:cNvSpPr/>
          <p:nvPr/>
        </p:nvSpPr>
        <p:spPr>
          <a:xfrm>
            <a:off x="548640" y="4663440"/>
            <a:ext cx="8229600" cy="228600"/>
          </a:xfrm>
          <a:prstGeom prst="rect">
            <a:avLst/>
          </a:prstGeom>
          <a:noFill/>
          <a:ln/>
        </p:spPr>
        <p:txBody>
          <a:bodyPr wrap="square" rtlCol="0" anchor="ctr"/>
          <a:lstStyle/>
          <a:p>
            <a:pPr indent="0" marL="0">
              <a:buNone/>
            </a:pPr>
            <a:r>
              <a:rPr lang="en-US" sz="900" spc="150" kern="0" dirty="0">
                <a:solidFill>
                  <a:srgbClr val="8B9CB6"/>
                </a:solidFill>
                <a:latin typeface="Calibri" pitchFamily="34" charset="0"/>
                <a:ea typeface="Calibri" pitchFamily="34" charset="-122"/>
                <a:cs typeface="Calibri" pitchFamily="34" charset="-120"/>
              </a:rPr>
              <a:t>NLP Method 1 of 3  |  25% of rubric</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What reviews actually talk about.</a:t>
            </a:r>
            <a:endParaRPr lang="en-US" sz="2800" dirty="0"/>
          </a:p>
        </p:txBody>
      </p:sp>
      <p:sp>
        <p:nvSpPr>
          <p:cNvPr id="3" name="Text 1"/>
          <p:cNvSpPr/>
          <p:nvPr/>
        </p:nvSpPr>
        <p:spPr>
          <a:xfrm>
            <a:off x="548640" y="1188720"/>
            <a:ext cx="3657600" cy="274320"/>
          </a:xfrm>
          <a:prstGeom prst="rect">
            <a:avLst/>
          </a:prstGeom>
          <a:noFill/>
          <a:ln/>
        </p:spPr>
        <p:txBody>
          <a:bodyPr wrap="square" rtlCol="0" anchor="ctr"/>
          <a:lstStyle/>
          <a:p>
            <a:pPr indent="0" marL="0">
              <a:buNone/>
            </a:pPr>
            <a:r>
              <a:rPr lang="en-US" sz="1300" b="1" dirty="0">
                <a:solidFill>
                  <a:srgbClr val="E2E8F0"/>
                </a:solidFill>
                <a:latin typeface="Calibri" pitchFamily="34" charset="0"/>
                <a:ea typeface="Calibri" pitchFamily="34" charset="-122"/>
                <a:cs typeface="Calibri" pitchFamily="34" charset="-120"/>
              </a:rPr>
              <a:t>5-star vocabulary</a:t>
            </a:r>
            <a:endParaRPr lang="en-US" sz="1300" dirty="0"/>
          </a:p>
        </p:txBody>
      </p:sp>
      <p:sp>
        <p:nvSpPr>
          <p:cNvPr id="4" name="Text 2"/>
          <p:cNvSpPr/>
          <p:nvPr/>
        </p:nvSpPr>
        <p:spPr>
          <a:xfrm>
            <a:off x="548640" y="1508760"/>
            <a:ext cx="3657600" cy="822960"/>
          </a:xfrm>
          <a:prstGeom prst="rect">
            <a:avLst/>
          </a:prstGeom>
          <a:noFill/>
          <a:ln/>
        </p:spPr>
        <p:txBody>
          <a:bodyPr wrap="square" rtlCol="0" anchor="ctr"/>
          <a:lstStyle/>
          <a:p>
            <a:pPr indent="0" marL="0">
              <a:buNone/>
            </a:pPr>
            <a:r>
              <a:rPr lang="en-US" sz="1100" dirty="0">
                <a:solidFill>
                  <a:srgbClr val="8B9CB6"/>
                </a:solidFill>
                <a:latin typeface="Calibri" pitchFamily="34" charset="0"/>
                <a:ea typeface="Calibri" pitchFamily="34" charset="-122"/>
                <a:cs typeface="Calibri" pitchFamily="34" charset="-120"/>
              </a:rPr>
              <a:t>pizza, sushi, tacos, burgers, breakfast, coffee</a:t>
            </a:r>
            <a:endParaRPr lang="en-US" sz="1100" dirty="0"/>
          </a:p>
          <a:p>
            <a:pPr indent="0" marL="0">
              <a:buNone/>
            </a:pPr>
            <a:r>
              <a:rPr lang="en-US" sz="1100" dirty="0">
                <a:solidFill>
                  <a:srgbClr val="8B9CB6"/>
                </a:solidFill>
                <a:latin typeface="Calibri" pitchFamily="34" charset="0"/>
                <a:ea typeface="Calibri" pitchFamily="34" charset="-122"/>
                <a:cs typeface="Calibri" pitchFamily="34" charset="-120"/>
              </a:rPr>
              <a:t>atmosphere, staff, fresh, amazing, friendly</a:t>
            </a:r>
            <a:endParaRPr lang="en-US" sz="1100" dirty="0"/>
          </a:p>
          <a:p>
            <a:pPr indent="0" marL="0">
              <a:buNone/>
            </a:pPr>
            <a:r>
              <a:rPr lang="en-US" sz="1100" dirty="0">
                <a:solidFill>
                  <a:srgbClr val="8B9CB6"/>
                </a:solidFill>
                <a:latin typeface="Calibri" pitchFamily="34" charset="0"/>
                <a:ea typeface="Calibri" pitchFamily="34" charset="-122"/>
                <a:cs typeface="Calibri" pitchFamily="34" charset="-120"/>
              </a:rPr>
              <a:t>Eegee's, Chipotle, Postino, Ethiopian</a:t>
            </a:r>
            <a:endParaRPr lang="en-US" sz="1100" dirty="0"/>
          </a:p>
        </p:txBody>
      </p:sp>
      <p:sp>
        <p:nvSpPr>
          <p:cNvPr id="5" name="Text 3"/>
          <p:cNvSpPr/>
          <p:nvPr/>
        </p:nvSpPr>
        <p:spPr>
          <a:xfrm>
            <a:off x="548640" y="2560320"/>
            <a:ext cx="3657600" cy="274320"/>
          </a:xfrm>
          <a:prstGeom prst="rect">
            <a:avLst/>
          </a:prstGeom>
          <a:noFill/>
          <a:ln/>
        </p:spPr>
        <p:txBody>
          <a:bodyPr wrap="square" rtlCol="0" anchor="ctr"/>
          <a:lstStyle/>
          <a:p>
            <a:pPr indent="0" marL="0">
              <a:buNone/>
            </a:pPr>
            <a:r>
              <a:rPr lang="en-US" sz="1300" b="1" dirty="0">
                <a:solidFill>
                  <a:srgbClr val="E2E8F0"/>
                </a:solidFill>
                <a:latin typeface="Calibri" pitchFamily="34" charset="0"/>
                <a:ea typeface="Calibri" pitchFamily="34" charset="-122"/>
                <a:cs typeface="Calibri" pitchFamily="34" charset="-120"/>
              </a:rPr>
              <a:t>1-star vocabulary</a:t>
            </a:r>
            <a:endParaRPr lang="en-US" sz="1300" dirty="0"/>
          </a:p>
        </p:txBody>
      </p:sp>
      <p:sp>
        <p:nvSpPr>
          <p:cNvPr id="6" name="Text 4"/>
          <p:cNvSpPr/>
          <p:nvPr/>
        </p:nvSpPr>
        <p:spPr>
          <a:xfrm>
            <a:off x="548640" y="2880360"/>
            <a:ext cx="3657600" cy="822960"/>
          </a:xfrm>
          <a:prstGeom prst="rect">
            <a:avLst/>
          </a:prstGeom>
          <a:noFill/>
          <a:ln/>
        </p:spPr>
        <p:txBody>
          <a:bodyPr wrap="square" rtlCol="0" anchor="ctr"/>
          <a:lstStyle/>
          <a:p>
            <a:pPr indent="0" marL="0">
              <a:buNone/>
            </a:pPr>
            <a:r>
              <a:rPr lang="en-US" sz="1100" dirty="0">
                <a:solidFill>
                  <a:srgbClr val="8B9CB6"/>
                </a:solidFill>
                <a:latin typeface="Calibri" pitchFamily="34" charset="0"/>
                <a:ea typeface="Calibri" pitchFamily="34" charset="-122"/>
                <a:cs typeface="Calibri" pitchFamily="34" charset="-120"/>
              </a:rPr>
              <a:t>order, wait, minutes, told, asked, manager, wrong</a:t>
            </a:r>
            <a:endParaRPr lang="en-US" sz="1100" dirty="0"/>
          </a:p>
          <a:p>
            <a:pPr indent="0" marL="0">
              <a:buNone/>
            </a:pPr>
            <a:r>
              <a:rPr lang="en-US" sz="1100" dirty="0">
                <a:solidFill>
                  <a:srgbClr val="8B9CB6"/>
                </a:solidFill>
                <a:latin typeface="Calibri" pitchFamily="34" charset="0"/>
                <a:ea typeface="Calibri" pitchFamily="34" charset="-122"/>
                <a:cs typeface="Calibri" pitchFamily="34" charset="-120"/>
              </a:rPr>
              <a:t>service, staff, rude, never, called, refund</a:t>
            </a:r>
            <a:endParaRPr lang="en-US" sz="1100" dirty="0"/>
          </a:p>
          <a:p>
            <a:pPr indent="0" marL="0">
              <a:buNone/>
            </a:pPr>
            <a:r>
              <a:rPr lang="en-US" sz="1100" dirty="0">
                <a:solidFill>
                  <a:srgbClr val="8B9CB6"/>
                </a:solidFill>
                <a:latin typeface="Calibri" pitchFamily="34" charset="0"/>
                <a:ea typeface="Calibri" pitchFamily="34" charset="-122"/>
                <a:cs typeface="Calibri" pitchFamily="34" charset="-120"/>
              </a:rPr>
              <a:t>COVID-bounded: masks, closed, capacity (2020-mid 2021)</a:t>
            </a:r>
            <a:endParaRPr lang="en-US" sz="1100" dirty="0"/>
          </a:p>
        </p:txBody>
      </p:sp>
      <p:sp>
        <p:nvSpPr>
          <p:cNvPr id="7" name="Text 5"/>
          <p:cNvSpPr/>
          <p:nvPr/>
        </p:nvSpPr>
        <p:spPr>
          <a:xfrm>
            <a:off x="5029200" y="1371600"/>
            <a:ext cx="914400" cy="548640"/>
          </a:xfrm>
          <a:prstGeom prst="rect">
            <a:avLst/>
          </a:prstGeom>
          <a:noFill/>
          <a:ln/>
        </p:spPr>
        <p:txBody>
          <a:bodyPr wrap="square" rtlCol="0" anchor="ctr"/>
          <a:lstStyle/>
          <a:p>
            <a:pPr algn="ctr" indent="0" marL="0">
              <a:buNone/>
            </a:pPr>
            <a:r>
              <a:rPr lang="en-US" sz="2800" b="1" dirty="0">
                <a:solidFill>
                  <a:srgbClr val="FFC627"/>
                </a:solidFill>
                <a:latin typeface="Calibri" pitchFamily="34" charset="0"/>
                <a:ea typeface="Calibri" pitchFamily="34" charset="-122"/>
                <a:cs typeface="Calibri" pitchFamily="34" charset="-120"/>
              </a:rPr>
              <a:t>80</a:t>
            </a:r>
            <a:endParaRPr lang="en-US" sz="2800" dirty="0"/>
          </a:p>
        </p:txBody>
      </p:sp>
      <p:sp>
        <p:nvSpPr>
          <p:cNvPr id="8" name="Text 6"/>
          <p:cNvSpPr/>
          <p:nvPr/>
        </p:nvSpPr>
        <p:spPr>
          <a:xfrm>
            <a:off x="5029200" y="1920240"/>
            <a:ext cx="914400" cy="274320"/>
          </a:xfrm>
          <a:prstGeom prst="rect">
            <a:avLst/>
          </a:prstGeom>
          <a:noFill/>
          <a:ln/>
        </p:spPr>
        <p:txBody>
          <a:bodyPr wrap="square" rtlCol="0" anchor="ctr"/>
          <a:lstStyle/>
          <a:p>
            <a:pPr algn="ctr" indent="0" marL="0">
              <a:buNone/>
            </a:pPr>
            <a:r>
              <a:rPr lang="en-US" sz="900" dirty="0">
                <a:solidFill>
                  <a:srgbClr val="8B9CB6"/>
                </a:solidFill>
              </a:rPr>
              <a:t>raw topics</a:t>
            </a:r>
            <a:endParaRPr lang="en-US" sz="900" dirty="0"/>
          </a:p>
        </p:txBody>
      </p:sp>
      <p:sp>
        <p:nvSpPr>
          <p:cNvPr id="9" name="Text 7"/>
          <p:cNvSpPr/>
          <p:nvPr/>
        </p:nvSpPr>
        <p:spPr>
          <a:xfrm>
            <a:off x="5852160" y="1371600"/>
            <a:ext cx="365760" cy="548640"/>
          </a:xfrm>
          <a:prstGeom prst="rect">
            <a:avLst/>
          </a:prstGeom>
          <a:noFill/>
          <a:ln/>
        </p:spPr>
        <p:txBody>
          <a:bodyPr wrap="square" rtlCol="0" anchor="ctr"/>
          <a:lstStyle/>
          <a:p>
            <a:pPr algn="ctr" indent="0" marL="0">
              <a:buNone/>
            </a:pPr>
            <a:r>
              <a:rPr lang="en-US" sz="1800" dirty="0">
                <a:solidFill>
                  <a:srgbClr val="8B9CB6"/>
                </a:solidFill>
              </a:rPr>
              <a:t>→</a:t>
            </a:r>
            <a:endParaRPr lang="en-US" sz="1800" dirty="0"/>
          </a:p>
        </p:txBody>
      </p:sp>
      <p:sp>
        <p:nvSpPr>
          <p:cNvPr id="10" name="Text 8"/>
          <p:cNvSpPr/>
          <p:nvPr/>
        </p:nvSpPr>
        <p:spPr>
          <a:xfrm>
            <a:off x="6126480" y="1371600"/>
            <a:ext cx="914400" cy="548640"/>
          </a:xfrm>
          <a:prstGeom prst="rect">
            <a:avLst/>
          </a:prstGeom>
          <a:noFill/>
          <a:ln/>
        </p:spPr>
        <p:txBody>
          <a:bodyPr wrap="square" rtlCol="0" anchor="ctr"/>
          <a:lstStyle/>
          <a:p>
            <a:pPr algn="ctr" indent="0" marL="0">
              <a:buNone/>
            </a:pPr>
            <a:r>
              <a:rPr lang="en-US" sz="2800" b="1" dirty="0">
                <a:solidFill>
                  <a:srgbClr val="FFC627"/>
                </a:solidFill>
                <a:latin typeface="Calibri" pitchFamily="34" charset="0"/>
                <a:ea typeface="Calibri" pitchFamily="34" charset="-122"/>
                <a:cs typeface="Calibri" pitchFamily="34" charset="-120"/>
              </a:rPr>
              <a:t>30</a:t>
            </a:r>
            <a:endParaRPr lang="en-US" sz="2800" dirty="0"/>
          </a:p>
        </p:txBody>
      </p:sp>
      <p:sp>
        <p:nvSpPr>
          <p:cNvPr id="11" name="Text 9"/>
          <p:cNvSpPr/>
          <p:nvPr/>
        </p:nvSpPr>
        <p:spPr>
          <a:xfrm>
            <a:off x="6126480" y="1920240"/>
            <a:ext cx="914400" cy="274320"/>
          </a:xfrm>
          <a:prstGeom prst="rect">
            <a:avLst/>
          </a:prstGeom>
          <a:noFill/>
          <a:ln/>
        </p:spPr>
        <p:txBody>
          <a:bodyPr wrap="square" rtlCol="0" anchor="ctr"/>
          <a:lstStyle/>
          <a:p>
            <a:pPr algn="ctr" indent="0" marL="0">
              <a:buNone/>
            </a:pPr>
            <a:r>
              <a:rPr lang="en-US" sz="900" dirty="0">
                <a:solidFill>
                  <a:srgbClr val="8B9CB6"/>
                </a:solidFill>
              </a:rPr>
              <a:t>merged</a:t>
            </a:r>
            <a:endParaRPr lang="en-US" sz="900" dirty="0"/>
          </a:p>
        </p:txBody>
      </p:sp>
      <p:sp>
        <p:nvSpPr>
          <p:cNvPr id="12" name="Text 10"/>
          <p:cNvSpPr/>
          <p:nvPr/>
        </p:nvSpPr>
        <p:spPr>
          <a:xfrm>
            <a:off x="6949440" y="1371600"/>
            <a:ext cx="365760" cy="548640"/>
          </a:xfrm>
          <a:prstGeom prst="rect">
            <a:avLst/>
          </a:prstGeom>
          <a:noFill/>
          <a:ln/>
        </p:spPr>
        <p:txBody>
          <a:bodyPr wrap="square" rtlCol="0" anchor="ctr"/>
          <a:lstStyle/>
          <a:p>
            <a:pPr algn="ctr" indent="0" marL="0">
              <a:buNone/>
            </a:pPr>
            <a:r>
              <a:rPr lang="en-US" sz="1800" dirty="0">
                <a:solidFill>
                  <a:srgbClr val="8B9CB6"/>
                </a:solidFill>
              </a:rPr>
              <a:t>→</a:t>
            </a:r>
            <a:endParaRPr lang="en-US" sz="1800" dirty="0"/>
          </a:p>
        </p:txBody>
      </p:sp>
      <p:sp>
        <p:nvSpPr>
          <p:cNvPr id="13" name="Text 11"/>
          <p:cNvSpPr/>
          <p:nvPr/>
        </p:nvSpPr>
        <p:spPr>
          <a:xfrm>
            <a:off x="7223760" y="1371600"/>
            <a:ext cx="914400" cy="548640"/>
          </a:xfrm>
          <a:prstGeom prst="rect">
            <a:avLst/>
          </a:prstGeom>
          <a:noFill/>
          <a:ln/>
        </p:spPr>
        <p:txBody>
          <a:bodyPr wrap="square" rtlCol="0" anchor="ctr"/>
          <a:lstStyle/>
          <a:p>
            <a:pPr algn="ctr" indent="0" marL="0">
              <a:buNone/>
            </a:pPr>
            <a:r>
              <a:rPr lang="en-US" sz="2800" b="1" dirty="0">
                <a:solidFill>
                  <a:srgbClr val="FFC627"/>
                </a:solidFill>
                <a:latin typeface="Calibri" pitchFamily="34" charset="0"/>
                <a:ea typeface="Calibri" pitchFamily="34" charset="-122"/>
                <a:cs typeface="Calibri" pitchFamily="34" charset="-120"/>
              </a:rPr>
              <a:t>15</a:t>
            </a:r>
            <a:endParaRPr lang="en-US" sz="2800" dirty="0"/>
          </a:p>
        </p:txBody>
      </p:sp>
      <p:sp>
        <p:nvSpPr>
          <p:cNvPr id="14" name="Text 12"/>
          <p:cNvSpPr/>
          <p:nvPr/>
        </p:nvSpPr>
        <p:spPr>
          <a:xfrm>
            <a:off x="7223760" y="1920240"/>
            <a:ext cx="914400" cy="274320"/>
          </a:xfrm>
          <a:prstGeom prst="rect">
            <a:avLst/>
          </a:prstGeom>
          <a:noFill/>
          <a:ln/>
        </p:spPr>
        <p:txBody>
          <a:bodyPr wrap="square" rtlCol="0" anchor="ctr"/>
          <a:lstStyle/>
          <a:p>
            <a:pPr algn="ctr" indent="0" marL="0">
              <a:buNone/>
            </a:pPr>
            <a:r>
              <a:rPr lang="en-US" sz="900" dirty="0">
                <a:solidFill>
                  <a:srgbClr val="8B9CB6"/>
                </a:solidFill>
              </a:rPr>
              <a:t>final</a:t>
            </a:r>
            <a:endParaRPr lang="en-US" sz="900" dirty="0"/>
          </a:p>
        </p:txBody>
      </p:sp>
      <p:sp>
        <p:nvSpPr>
          <p:cNvPr id="15" name="Text 13"/>
          <p:cNvSpPr/>
          <p:nvPr/>
        </p:nvSpPr>
        <p:spPr>
          <a:xfrm>
            <a:off x="548640" y="4206240"/>
            <a:ext cx="8229600" cy="274320"/>
          </a:xfrm>
          <a:prstGeom prst="rect">
            <a:avLst/>
          </a:prstGeom>
          <a:noFill/>
          <a:ln/>
        </p:spPr>
        <p:txBody>
          <a:bodyPr wrap="square" rtlCol="0" anchor="ctr"/>
          <a:lstStyle/>
          <a:p>
            <a:pPr indent="0" marL="0">
              <a:buNone/>
            </a:pPr>
            <a:r>
              <a:rPr lang="en-US" sz="1100" i="1" dirty="0">
                <a:solidFill>
                  <a:srgbClr val="8B9CB6"/>
                </a:solidFill>
                <a:latin typeface="Calibri" pitchFamily="34" charset="0"/>
                <a:ea typeface="Calibri" pitchFamily="34" charset="-122"/>
                <a:cs typeface="Calibri" pitchFamily="34" charset="-120"/>
              </a:rPr>
              <a:t>Good reviews are specific. Bad reviews are structural. Topic assignment becomes a feature in the XGBoost layer.</a:t>
            </a:r>
            <a:endParaRPr lang="en-US" sz="1100" dirty="0"/>
          </a:p>
        </p:txBody>
      </p:sp>
      <p:sp>
        <p:nvSpPr>
          <p:cNvPr id="16" name="Text 14"/>
          <p:cNvSpPr/>
          <p:nvPr/>
        </p:nvSpPr>
        <p:spPr>
          <a:xfrm>
            <a:off x="548640" y="4663440"/>
            <a:ext cx="8229600" cy="228600"/>
          </a:xfrm>
          <a:prstGeom prst="rect">
            <a:avLst/>
          </a:prstGeom>
          <a:noFill/>
          <a:ln/>
        </p:spPr>
        <p:txBody>
          <a:bodyPr wrap="square" rtlCol="0" anchor="ctr"/>
          <a:lstStyle/>
          <a:p>
            <a:pPr indent="0" marL="0">
              <a:buNone/>
            </a:pPr>
            <a:r>
              <a:rPr lang="en-US" sz="900" spc="150" kern="0" dirty="0">
                <a:solidFill>
                  <a:srgbClr val="8B9CB6"/>
                </a:solidFill>
                <a:latin typeface="Calibri" pitchFamily="34" charset="0"/>
                <a:ea typeface="Calibri" pitchFamily="34" charset="-122"/>
                <a:cs typeface="Calibri" pitchFamily="34" charset="-120"/>
              </a:rPr>
              <a:t>NLP Method 2 of 3  |  25% of rubric</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LLM prompting: honest comparison.</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029200" cy="2011680"/>
        </p:xfrm>
        <a:graphic>
          <a:graphicData uri="http://schemas.openxmlformats.org/drawingml/2006/table">
            <a:tbl>
              <a:tblPr/>
              <a:tblGrid>
                <a:gridCol w="2743200"/>
                <a:gridCol w="1143000"/>
                <a:gridCol w="1143000"/>
              </a:tblGrid>
              <a:tr h="365760">
                <a:tc>
                  <a:txBody>
                    <a:bodyPr/>
                    <a:lstStyle/>
                    <a:p>
                      <a:pPr indent="0" marL="0">
                        <a:buNone/>
                      </a:pPr>
                      <a:r>
                        <a:rPr lang="en-US" sz="1200" b="1" dirty="0">
                          <a:solidFill>
                            <a:srgbClr val="FFC627"/>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solidFill>
                      <a:srgbClr val="1C2A3A"/>
                    </a:solidFill>
                  </a:tcPr>
                </a:tc>
                <a:tc>
                  <a:txBody>
                    <a:bodyPr/>
                    <a:lstStyle/>
                    <a:p>
                      <a:pPr algn="ctr" indent="0" marL="0">
                        <a:buNone/>
                      </a:pPr>
                      <a:r>
                        <a:rPr lang="en-US" sz="1200" b="1" dirty="0">
                          <a:solidFill>
                            <a:srgbClr val="FFC627"/>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solidFill>
                      <a:srgbClr val="1C2A3A"/>
                    </a:solidFill>
                  </a:tcPr>
                </a:tc>
                <a:tc>
                  <a:txBody>
                    <a:bodyPr/>
                    <a:lstStyle/>
                    <a:p>
                      <a:pPr algn="ctr" indent="0" marL="0">
                        <a:buNone/>
                      </a:pPr>
                      <a:r>
                        <a:rPr lang="en-US" sz="1200" b="1" dirty="0">
                          <a:solidFill>
                            <a:srgbClr val="FFC627"/>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solidFill>
                      <a:srgbClr val="1C2A3A"/>
                    </a:solidFill>
                  </a:tcPr>
                </a:tc>
              </a:tr>
              <a:tr h="365760">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Zero-Shot (Llama-3.3-70B)</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c>
                  <a:txBody>
                    <a:bodyPr/>
                    <a:lstStyle/>
                    <a:p>
                      <a:pPr algn="ctr" indent="0" marL="0">
                        <a:buNone/>
                      </a:pPr>
                      <a:r>
                        <a:rPr lang="en-US" sz="1200" dirty="0">
                          <a:solidFill>
                            <a:srgbClr val="E2E8F0"/>
                          </a:solidFill>
                          <a:latin typeface="Calibri" pitchFamily="34" charset="0"/>
                          <a:ea typeface="Calibri" pitchFamily="34" charset="-122"/>
                          <a:cs typeface="Calibri" pitchFamily="34" charset="-120"/>
                        </a:rPr>
                        <a:t>82.5%</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c>
                  <a:txBody>
                    <a:bodyPr/>
                    <a:lstStyle/>
                    <a:p>
                      <a:pPr algn="ctr" indent="0" marL="0">
                        <a:buNone/>
                      </a:pPr>
                      <a:r>
                        <a:rPr lang="en-US" sz="1200" dirty="0">
                          <a:solidFill>
                            <a:srgbClr val="E2E8F0"/>
                          </a:solidFill>
                          <a:latin typeface="Calibri" pitchFamily="34" charset="0"/>
                          <a:ea typeface="Calibri" pitchFamily="34" charset="-122"/>
                          <a:cs typeface="Calibri" pitchFamily="34" charset="-120"/>
                        </a:rPr>
                        <a:t>0.821</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r>
              <a:tr h="365760">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Few-Shot (Llama-3.3-70B)</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c>
                  <a:txBody>
                    <a:bodyPr/>
                    <a:lstStyle/>
                    <a:p>
                      <a:pPr algn="ctr" indent="0" marL="0">
                        <a:buNone/>
                      </a:pPr>
                      <a:r>
                        <a:rPr lang="en-US" sz="1200" b="1" dirty="0">
                          <a:solidFill>
                            <a:srgbClr val="FFC627"/>
                          </a:solidFill>
                          <a:latin typeface="Calibri" pitchFamily="34" charset="0"/>
                          <a:ea typeface="Calibri" pitchFamily="34" charset="-122"/>
                          <a:cs typeface="Calibri" pitchFamily="34" charset="-120"/>
                        </a:rPr>
                        <a:t>87.5%</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c>
                  <a:txBody>
                    <a:bodyPr/>
                    <a:lstStyle/>
                    <a:p>
                      <a:pPr algn="ctr" indent="0" marL="0">
                        <a:buNone/>
                      </a:pPr>
                      <a:r>
                        <a:rPr lang="en-US" sz="1200" b="1" dirty="0">
                          <a:solidFill>
                            <a:srgbClr val="FFC627"/>
                          </a:solidFill>
                          <a:latin typeface="Calibri" pitchFamily="34" charset="0"/>
                          <a:ea typeface="Calibri" pitchFamily="34" charset="-122"/>
                          <a:cs typeface="Calibri" pitchFamily="34" charset="-120"/>
                        </a:rPr>
                        <a:t>0.873</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r>
              <a:tr h="365760">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Few-Shot (DeepSeek-R1)</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c>
                  <a:txBody>
                    <a:bodyPr/>
                    <a:lstStyle/>
                    <a:p>
                      <a:pPr algn="ctr" indent="0" marL="0">
                        <a:buNone/>
                      </a:pPr>
                      <a:r>
                        <a:rPr lang="en-US" sz="1200" dirty="0">
                          <a:solidFill>
                            <a:srgbClr val="E2E8F0"/>
                          </a:solidFill>
                          <a:latin typeface="Calibri" pitchFamily="34" charset="0"/>
                          <a:ea typeface="Calibri" pitchFamily="34" charset="-122"/>
                          <a:cs typeface="Calibri" pitchFamily="34" charset="-120"/>
                        </a:rPr>
                        <a:t>85.0%</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c>
                  <a:txBody>
                    <a:bodyPr/>
                    <a:lstStyle/>
                    <a:p>
                      <a:pPr algn="ctr" indent="0" marL="0">
                        <a:buNone/>
                      </a:pPr>
                      <a:r>
                        <a:rPr lang="en-US" sz="1200" dirty="0">
                          <a:solidFill>
                            <a:srgbClr val="E2E8F0"/>
                          </a:solidFill>
                          <a:latin typeface="Calibri" pitchFamily="34" charset="0"/>
                          <a:ea typeface="Calibri" pitchFamily="34" charset="-122"/>
                          <a:cs typeface="Calibri" pitchFamily="34" charset="-120"/>
                        </a:rPr>
                        <a:t>0.848</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r>
              <a:tr h="365760">
                <a:tc>
                  <a:txBody>
                    <a:bodyPr/>
                    <a:lstStyle/>
                    <a:p>
                      <a:pPr indent="0" marL="0">
                        <a:buNone/>
                      </a:pPr>
                      <a:r>
                        <a:rPr lang="en-US" sz="1200" i="1" dirty="0">
                          <a:solidFill>
                            <a:srgbClr val="8B9CB6"/>
                          </a:solidFill>
                          <a:latin typeface="Calibri" pitchFamily="34" charset="0"/>
                          <a:ea typeface="Calibri" pitchFamily="34" charset="-122"/>
                          <a:cs typeface="Calibri" pitchFamily="34" charset="-120"/>
                        </a:rPr>
                        <a:t>LA2 SVM Baseline</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c>
                  <a:txBody>
                    <a:bodyPr/>
                    <a:lstStyle/>
                    <a:p>
                      <a:pPr algn="ctr" indent="0" marL="0">
                        <a:buNone/>
                      </a:pPr>
                      <a:r>
                        <a:rPr lang="en-US" sz="1200" i="1" dirty="0">
                          <a:solidFill>
                            <a:srgbClr val="8B9CB6"/>
                          </a:solidFill>
                          <a:latin typeface="Calibri" pitchFamily="34" charset="0"/>
                          <a:ea typeface="Calibri" pitchFamily="34" charset="-122"/>
                          <a:cs typeface="Calibri" pitchFamily="34" charset="-120"/>
                        </a:rPr>
                        <a:t>95.7%</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c>
                  <a:txBody>
                    <a:bodyPr/>
                    <a:lstStyle/>
                    <a:p>
                      <a:pPr algn="ctr" indent="0" marL="0">
                        <a:buNone/>
                      </a:pPr>
                      <a:r>
                        <a:rPr lang="en-US" sz="1200" i="1" dirty="0">
                          <a:solidFill>
                            <a:srgbClr val="8B9CB6"/>
                          </a:solidFill>
                          <a:latin typeface="Calibri" pitchFamily="34" charset="0"/>
                          <a:ea typeface="Calibri" pitchFamily="34" charset="-122"/>
                          <a:cs typeface="Calibri" pitchFamily="34" charset="-120"/>
                        </a:rPr>
                        <a:t>0.956</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r>
            </a:tbl>
          </a:graphicData>
        </a:graphic>
      </p:graphicFrame>
      <p:sp>
        <p:nvSpPr>
          <p:cNvPr id="4" name="Text 1"/>
          <p:cNvSpPr/>
          <p:nvPr/>
        </p:nvSpPr>
        <p:spPr>
          <a:xfrm>
            <a:off x="548640" y="3383280"/>
            <a:ext cx="7772400" cy="731520"/>
          </a:xfrm>
          <a:prstGeom prst="rect">
            <a:avLst/>
          </a:prstGeom>
          <a:noFill/>
          <a:ln/>
        </p:spPr>
        <p:txBody>
          <a:bodyPr wrap="square" rtlCol="0" anchor="ctr"/>
          <a:lstStyle/>
          <a:p>
            <a:pPr indent="0" marL="0">
              <a:buNone/>
            </a:pPr>
            <a:r>
              <a:rPr lang="en-US" sz="1200" dirty="0">
                <a:solidFill>
                  <a:srgbClr val="E2E8F0"/>
                </a:solidFill>
                <a:latin typeface="Calibri" pitchFamily="34" charset="0"/>
                <a:ea typeface="Calibri" pitchFamily="34" charset="-122"/>
                <a:cs typeface="Calibri" pitchFamily="34" charset="-120"/>
              </a:rPr>
              <a:t>VADER + traditional ML outperforms LLM prompting at scale on this task. Few-shot closes the gap by 5 points over zero-shot. LLM agreement scores become a feature in the XGBoost layer, not a replacement for it.</a:t>
            </a:r>
            <a:endParaRPr lang="en-US" sz="1200" dirty="0"/>
          </a:p>
        </p:txBody>
      </p:sp>
      <p:sp>
        <p:nvSpPr>
          <p:cNvPr id="5" name="Text 2"/>
          <p:cNvSpPr/>
          <p:nvPr/>
        </p:nvSpPr>
        <p:spPr>
          <a:xfrm>
            <a:off x="548640" y="4663440"/>
            <a:ext cx="8229600" cy="228600"/>
          </a:xfrm>
          <a:prstGeom prst="rect">
            <a:avLst/>
          </a:prstGeom>
          <a:noFill/>
          <a:ln/>
        </p:spPr>
        <p:txBody>
          <a:bodyPr wrap="square" rtlCol="0" anchor="ctr"/>
          <a:lstStyle/>
          <a:p>
            <a:pPr indent="0" marL="0">
              <a:buNone/>
            </a:pPr>
            <a:r>
              <a:rPr lang="en-US" sz="900" spc="150" kern="0" dirty="0">
                <a:solidFill>
                  <a:srgbClr val="8B9CB6"/>
                </a:solidFill>
                <a:latin typeface="Calibri" pitchFamily="34" charset="0"/>
                <a:ea typeface="Calibri" pitchFamily="34" charset="-122"/>
                <a:cs typeface="Calibri" pitchFamily="34" charset="-120"/>
              </a:rPr>
              <a:t>NLP Method 3 of 3  |  25% of rubric</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XGBoost synthesizes all three signals.</a:t>
            </a:r>
            <a:endParaRPr lang="en-US" sz="2800" dirty="0"/>
          </a:p>
        </p:txBody>
      </p:sp>
      <p:pic>
        <p:nvPicPr>
          <p:cNvPr id="3" name="Image 0" descr="/home/claude/c3.png">    </p:cNvPr>
          <p:cNvPicPr>
            <a:picLocks noChangeAspect="1"/>
          </p:cNvPicPr>
          <p:nvPr/>
        </p:nvPicPr>
        <p:blipFill>
          <a:blip r:embed="rId1"/>
          <a:stretch>
            <a:fillRect/>
          </a:stretch>
        </p:blipFill>
        <p:spPr>
          <a:xfrm>
            <a:off x="274320" y="1097280"/>
            <a:ext cx="4754880" cy="3017520"/>
          </a:xfrm>
          <a:prstGeom prst="rect">
            <a:avLst/>
          </a:prstGeom>
        </p:spPr>
      </p:pic>
      <p:sp>
        <p:nvSpPr>
          <p:cNvPr id="4" name="Text 1"/>
          <p:cNvSpPr/>
          <p:nvPr/>
        </p:nvSpPr>
        <p:spPr>
          <a:xfrm>
            <a:off x="5303520" y="1097280"/>
            <a:ext cx="3474720" cy="320040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Proxy label: divergence &gt; 1.0 = suspicious.</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No ground truth fake-review labels exist.</a:t>
            </a:r>
            <a:endParaRPr lang="en-US" sz="1100" dirty="0"/>
          </a:p>
          <a:p>
            <a:pPr indent="0" marL="0">
              <a:buNone/>
            </a:pP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Circularity acknowledged: divergence is both</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a feature and a component of the label.</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XGBoost learns from the other features.</a:t>
            </a:r>
            <a:endParaRPr lang="en-US" sz="1100" dirty="0"/>
          </a:p>
          <a:p>
            <a:pPr indent="0" marL="0">
              <a:buNone/>
            </a:pP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Output per business:</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raw_avg_stars</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tabhs_adjusted_stars</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manipulation_delta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The gap is what fake reviews were worth.</a:t>
            </a:r>
            <a:endParaRPr lang="en-US" sz="2800" dirty="0"/>
          </a:p>
        </p:txBody>
      </p:sp>
      <p:pic>
        <p:nvPicPr>
          <p:cNvPr id="3" name="Image 0" descr="/home/claude/c4.png">    </p:cNvPr>
          <p:cNvPicPr>
            <a:picLocks noChangeAspect="1"/>
          </p:cNvPicPr>
          <p:nvPr/>
        </p:nvPicPr>
        <p:blipFill>
          <a:blip r:embed="rId1"/>
          <a:stretch>
            <a:fillRect/>
          </a:stretch>
        </p:blipFill>
        <p:spPr>
          <a:xfrm>
            <a:off x="274320" y="1005840"/>
            <a:ext cx="8595360" cy="2743200"/>
          </a:xfrm>
          <a:prstGeom prst="rect">
            <a:avLst/>
          </a:prstGeom>
        </p:spPr>
      </p:pic>
      <p:sp>
        <p:nvSpPr>
          <p:cNvPr id="4" name="Text 1"/>
          <p:cNvSpPr/>
          <p:nvPr/>
        </p:nvSpPr>
        <p:spPr>
          <a:xfrm>
            <a:off x="548640" y="4023360"/>
            <a:ext cx="8229600" cy="457200"/>
          </a:xfrm>
          <a:prstGeom prst="rect">
            <a:avLst/>
          </a:prstGeom>
          <a:noFill/>
          <a:ln/>
        </p:spPr>
        <p:txBody>
          <a:bodyPr wrap="square" rtlCol="0" anchor="ctr"/>
          <a:lstStyle/>
          <a:p>
            <a:pPr indent="0" marL="0">
              <a:buNone/>
            </a:pPr>
            <a:r>
              <a:rPr lang="en-US" sz="1000" dirty="0">
                <a:solidFill>
                  <a:srgbClr val="8B9CB6"/>
                </a:solidFill>
                <a:latin typeface="Calibri" pitchFamily="34" charset="0"/>
                <a:ea typeface="Calibri" pitchFamily="34" charset="-122"/>
                <a:cs typeface="Calibri" pitchFamily="34" charset="-120"/>
              </a:rPr>
              <a:t>SMB Lenders: underwrite on adjusted score.   |   Franchise Brokers: evaluate targets with manipulation removed.   |   M&amp;A: surface inflation before closing.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What this is. What it is not.</a:t>
            </a:r>
            <a:endParaRPr lang="en-US" sz="2800" dirty="0"/>
          </a:p>
        </p:txBody>
      </p:sp>
      <p:sp>
        <p:nvSpPr>
          <p:cNvPr id="3" name="Text 1"/>
          <p:cNvSpPr/>
          <p:nvPr/>
        </p:nvSpPr>
        <p:spPr>
          <a:xfrm>
            <a:off x="548640" y="1097280"/>
            <a:ext cx="2560320" cy="274320"/>
          </a:xfrm>
          <a:prstGeom prst="rect">
            <a:avLst/>
          </a:prstGeom>
          <a:noFill/>
          <a:ln/>
        </p:spPr>
        <p:txBody>
          <a:bodyPr wrap="square" rtlCol="0" anchor="ctr"/>
          <a:lstStyle/>
          <a:p>
            <a:pPr indent="0" marL="0">
              <a:buNone/>
            </a:pPr>
            <a:r>
              <a:rPr lang="en-US" sz="1200" b="1" dirty="0">
                <a:solidFill>
                  <a:srgbClr val="FFC627"/>
                </a:solidFill>
                <a:latin typeface="Calibri" pitchFamily="34" charset="0"/>
                <a:ea typeface="Calibri" pitchFamily="34" charset="-122"/>
                <a:cs typeface="Calibri" pitchFamily="34" charset="-120"/>
              </a:rPr>
              <a:t>Delivered</a:t>
            </a:r>
            <a:endParaRPr lang="en-US" sz="1200" dirty="0"/>
          </a:p>
        </p:txBody>
      </p:sp>
      <p:sp>
        <p:nvSpPr>
          <p:cNvPr id="4" name="Text 2"/>
          <p:cNvSpPr/>
          <p:nvPr/>
        </p:nvSpPr>
        <p:spPr>
          <a:xfrm>
            <a:off x="548640" y="1417320"/>
            <a:ext cx="2560320" cy="1645920"/>
          </a:xfrm>
          <a:prstGeom prst="rect">
            <a:avLst/>
          </a:prstGeom>
          <a:noFill/>
          <a:ln/>
        </p:spPr>
        <p:txBody>
          <a:bodyPr wrap="square" rtlCol="0" anchor="ctr"/>
          <a:lstStyle/>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Three NLP methods on one corpus</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XGBoost synthesis classifier</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Dual-hash receipts per business</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Manipulation delta per business</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Reproducible GitHub pipeline</a:t>
            </a:r>
            <a:endParaRPr lang="en-US" sz="1100" dirty="0"/>
          </a:p>
        </p:txBody>
      </p:sp>
      <p:sp>
        <p:nvSpPr>
          <p:cNvPr id="5" name="Text 3"/>
          <p:cNvSpPr/>
          <p:nvPr/>
        </p:nvSpPr>
        <p:spPr>
          <a:xfrm>
            <a:off x="3383280" y="1097280"/>
            <a:ext cx="2560320" cy="274320"/>
          </a:xfrm>
          <a:prstGeom prst="rect">
            <a:avLst/>
          </a:prstGeom>
          <a:noFill/>
          <a:ln/>
        </p:spPr>
        <p:txBody>
          <a:bodyPr wrap="square" rtlCol="0" anchor="ctr"/>
          <a:lstStyle/>
          <a:p>
            <a:pPr indent="0" marL="0">
              <a:buNone/>
            </a:pPr>
            <a:r>
              <a:rPr lang="en-US" sz="1200" b="1" dirty="0">
                <a:solidFill>
                  <a:srgbClr val="E2E8F0"/>
                </a:solidFill>
                <a:latin typeface="Calibri" pitchFamily="34" charset="0"/>
                <a:ea typeface="Calibri" pitchFamily="34" charset="-122"/>
                <a:cs typeface="Calibri" pitchFamily="34" charset="-120"/>
              </a:rPr>
              <a:t>Limitations</a:t>
            </a:r>
            <a:endParaRPr lang="en-US" sz="1200" dirty="0"/>
          </a:p>
        </p:txBody>
      </p:sp>
      <p:sp>
        <p:nvSpPr>
          <p:cNvPr id="6" name="Text 4"/>
          <p:cNvSpPr/>
          <p:nvPr/>
        </p:nvSpPr>
        <p:spPr>
          <a:xfrm>
            <a:off x="3383280" y="1417320"/>
            <a:ext cx="2560320" cy="1645920"/>
          </a:xfrm>
          <a:prstGeom prst="rect">
            <a:avLst/>
          </a:prstGeom>
          <a:noFill/>
          <a:ln/>
        </p:spPr>
        <p:txBody>
          <a:bodyPr wrap="square" rtlCol="0" anchor="ctr"/>
          <a:lstStyle/>
          <a:p>
            <a:pPr marL="342900" indent="-342900">
              <a:spcAft>
                <a:spcPts val="400"/>
              </a:spcAft>
              <a:buSzPct val="100000"/>
              <a:buChar char="•"/>
            </a:pPr>
            <a:r>
              <a:rPr lang="en-US" sz="1100" dirty="0">
                <a:solidFill>
                  <a:srgbClr val="8B9CB6"/>
                </a:solidFill>
                <a:latin typeface="Calibri" pitchFamily="34" charset="0"/>
                <a:ea typeface="Calibri" pitchFamily="34" charset="-122"/>
                <a:cs typeface="Calibri" pitchFamily="34" charset="-120"/>
              </a:rPr>
              <a:t>No ground truth fake-review labels</a:t>
            </a:r>
            <a:endParaRPr lang="en-US" sz="1100" dirty="0"/>
          </a:p>
          <a:p>
            <a:pPr marL="342900" indent="-342900">
              <a:spcAft>
                <a:spcPts val="400"/>
              </a:spcAft>
              <a:buSzPct val="100000"/>
              <a:buChar char="•"/>
            </a:pPr>
            <a:r>
              <a:rPr lang="en-US" sz="1100" dirty="0">
                <a:solidFill>
                  <a:srgbClr val="8B9CB6"/>
                </a:solidFill>
                <a:latin typeface="Calibri" pitchFamily="34" charset="0"/>
                <a:ea typeface="Calibri" pitchFamily="34" charset="-122"/>
                <a:cs typeface="Calibri" pitchFamily="34" charset="-120"/>
              </a:rPr>
              <a:t>Proxy label circularity</a:t>
            </a:r>
            <a:endParaRPr lang="en-US" sz="1100" dirty="0"/>
          </a:p>
          <a:p>
            <a:pPr marL="342900" indent="-342900">
              <a:spcAft>
                <a:spcPts val="400"/>
              </a:spcAft>
              <a:buSzPct val="100000"/>
              <a:buChar char="•"/>
            </a:pPr>
            <a:r>
              <a:rPr lang="en-US" sz="1100" dirty="0">
                <a:solidFill>
                  <a:srgbClr val="8B9CB6"/>
                </a:solidFill>
                <a:latin typeface="Calibri" pitchFamily="34" charset="0"/>
                <a:ea typeface="Calibri" pitchFamily="34" charset="-122"/>
                <a:cs typeface="Calibri" pitchFamily="34" charset="-120"/>
              </a:rPr>
              <a:t>Arizona restaurants only</a:t>
            </a:r>
            <a:endParaRPr lang="en-US" sz="1100" dirty="0"/>
          </a:p>
          <a:p>
            <a:pPr marL="342900" indent="-342900">
              <a:spcAft>
                <a:spcPts val="400"/>
              </a:spcAft>
              <a:buSzPct val="100000"/>
              <a:buChar char="•"/>
            </a:pPr>
            <a:r>
              <a:rPr lang="en-US" sz="1100" dirty="0">
                <a:solidFill>
                  <a:srgbClr val="8B9CB6"/>
                </a:solidFill>
                <a:latin typeface="Calibri" pitchFamily="34" charset="0"/>
                <a:ea typeface="Calibri" pitchFamily="34" charset="-122"/>
                <a:cs typeface="Calibri" pitchFamily="34" charset="-120"/>
              </a:rPr>
              <a:t>user.json features excluded</a:t>
            </a:r>
            <a:endParaRPr lang="en-US" sz="1100" dirty="0"/>
          </a:p>
          <a:p>
            <a:pPr marL="342900" indent="-342900">
              <a:spcAft>
                <a:spcPts val="400"/>
              </a:spcAft>
              <a:buSzPct val="100000"/>
              <a:buChar char="•"/>
            </a:pPr>
            <a:r>
              <a:rPr lang="en-US" sz="1100" dirty="0">
                <a:solidFill>
                  <a:srgbClr val="8B9CB6"/>
                </a:solidFill>
                <a:latin typeface="Calibri" pitchFamily="34" charset="0"/>
                <a:ea typeface="Calibri" pitchFamily="34" charset="-122"/>
                <a:cs typeface="Calibri" pitchFamily="34" charset="-120"/>
              </a:rPr>
              <a:t>LLM accuracy below SVM baseline</a:t>
            </a:r>
            <a:endParaRPr lang="en-US" sz="1100" dirty="0"/>
          </a:p>
        </p:txBody>
      </p:sp>
      <p:sp>
        <p:nvSpPr>
          <p:cNvPr id="7" name="Text 5"/>
          <p:cNvSpPr/>
          <p:nvPr/>
        </p:nvSpPr>
        <p:spPr>
          <a:xfrm>
            <a:off x="6217920" y="1097280"/>
            <a:ext cx="2560320" cy="274320"/>
          </a:xfrm>
          <a:prstGeom prst="rect">
            <a:avLst/>
          </a:prstGeom>
          <a:noFill/>
          <a:ln/>
        </p:spPr>
        <p:txBody>
          <a:bodyPr wrap="square" rtlCol="0" anchor="ctr"/>
          <a:lstStyle/>
          <a:p>
            <a:pPr indent="0" marL="0">
              <a:buNone/>
            </a:pPr>
            <a:r>
              <a:rPr lang="en-US" sz="1200" b="1" dirty="0">
                <a:solidFill>
                  <a:srgbClr val="E2E8F0"/>
                </a:solidFill>
                <a:latin typeface="Calibri" pitchFamily="34" charset="0"/>
                <a:ea typeface="Calibri" pitchFamily="34" charset="-122"/>
                <a:cs typeface="Calibri" pitchFamily="34" charset="-120"/>
              </a:rPr>
              <a:t>Future Work</a:t>
            </a:r>
            <a:endParaRPr lang="en-US" sz="1200" dirty="0"/>
          </a:p>
        </p:txBody>
      </p:sp>
      <p:sp>
        <p:nvSpPr>
          <p:cNvPr id="8" name="Text 6"/>
          <p:cNvSpPr/>
          <p:nvPr/>
        </p:nvSpPr>
        <p:spPr>
          <a:xfrm>
            <a:off x="6217920" y="1417320"/>
            <a:ext cx="2560320" cy="1645920"/>
          </a:xfrm>
          <a:prstGeom prst="rect">
            <a:avLst/>
          </a:prstGeom>
          <a:noFill/>
          <a:ln/>
        </p:spPr>
        <p:txBody>
          <a:bodyPr wrap="square" rtlCol="0" anchor="ctr"/>
          <a:lstStyle/>
          <a:p>
            <a:pPr marL="342900" indent="-342900">
              <a:spcAft>
                <a:spcPts val="400"/>
              </a:spcAft>
              <a:buSzPct val="100000"/>
              <a:buChar char="•"/>
            </a:pPr>
            <a:r>
              <a:rPr lang="en-US" sz="1100" dirty="0">
                <a:solidFill>
                  <a:srgbClr val="8B9CB6"/>
                </a:solidFill>
                <a:latin typeface="Calibri" pitchFamily="34" charset="0"/>
                <a:ea typeface="Calibri" pitchFamily="34" charset="-122"/>
                <a:cs typeface="Calibri" pitchFamily="34" charset="-120"/>
              </a:rPr>
              <a:t>Add user.json account features</a:t>
            </a:r>
            <a:endParaRPr lang="en-US" sz="1100" dirty="0"/>
          </a:p>
          <a:p>
            <a:pPr marL="342900" indent="-342900">
              <a:spcAft>
                <a:spcPts val="400"/>
              </a:spcAft>
              <a:buSzPct val="100000"/>
              <a:buChar char="•"/>
            </a:pPr>
            <a:r>
              <a:rPr lang="en-US" sz="1100" dirty="0">
                <a:solidFill>
                  <a:srgbClr val="8B9CB6"/>
                </a:solidFill>
                <a:latin typeface="Calibri" pitchFamily="34" charset="0"/>
                <a:ea typeface="Calibri" pitchFamily="34" charset="-122"/>
                <a:cs typeface="Calibri" pitchFamily="34" charset="-120"/>
              </a:rPr>
              <a:t>Expand to national Yelp dataset</a:t>
            </a:r>
            <a:endParaRPr lang="en-US" sz="1100" dirty="0"/>
          </a:p>
          <a:p>
            <a:pPr marL="342900" indent="-342900">
              <a:spcAft>
                <a:spcPts val="400"/>
              </a:spcAft>
              <a:buSzPct val="100000"/>
              <a:buChar char="•"/>
            </a:pPr>
            <a:r>
              <a:rPr lang="en-US" sz="1100" dirty="0">
                <a:solidFill>
                  <a:srgbClr val="8B9CB6"/>
                </a:solidFill>
                <a:latin typeface="Calibri" pitchFamily="34" charset="0"/>
                <a:ea typeface="Calibri" pitchFamily="34" charset="-122"/>
                <a:cs typeface="Calibri" pitchFamily="34" charset="-120"/>
              </a:rPr>
              <a:t>Train on labeled fake reviews</a:t>
            </a:r>
            <a:endParaRPr lang="en-US" sz="1100" dirty="0"/>
          </a:p>
          <a:p>
            <a:pPr marL="342900" indent="-342900">
              <a:spcAft>
                <a:spcPts val="400"/>
              </a:spcAft>
              <a:buSzPct val="100000"/>
              <a:buChar char="•"/>
            </a:pPr>
            <a:r>
              <a:rPr lang="en-US" sz="1100" dirty="0">
                <a:solidFill>
                  <a:srgbClr val="8B9CB6"/>
                </a:solidFill>
                <a:latin typeface="Calibri" pitchFamily="34" charset="0"/>
                <a:ea typeface="Calibri" pitchFamily="34" charset="-122"/>
                <a:cs typeface="Calibri" pitchFamily="34" charset="-120"/>
              </a:rPr>
              <a:t>Temporal burst detection</a:t>
            </a:r>
            <a:endParaRPr lang="en-US" sz="1100" dirty="0"/>
          </a:p>
          <a:p>
            <a:pPr marL="342900" indent="-342900">
              <a:spcAft>
                <a:spcPts val="400"/>
              </a:spcAft>
              <a:buSzPct val="100000"/>
              <a:buChar char="•"/>
            </a:pPr>
            <a:r>
              <a:rPr lang="en-US" sz="1100" dirty="0">
                <a:solidFill>
                  <a:srgbClr val="8B9CB6"/>
                </a:solidFill>
                <a:latin typeface="Calibri" pitchFamily="34" charset="0"/>
                <a:ea typeface="Calibri" pitchFamily="34" charset="-122"/>
                <a:cs typeface="Calibri" pitchFamily="34" charset="-120"/>
              </a:rPr>
              <a:t>Quantum-resistant receipts</a:t>
            </a:r>
            <a:endParaRPr lang="en-US" sz="1100" dirty="0"/>
          </a:p>
        </p:txBody>
      </p:sp>
      <p:sp>
        <p:nvSpPr>
          <p:cNvPr id="9" name="Text 7"/>
          <p:cNvSpPr/>
          <p:nvPr/>
        </p:nvSpPr>
        <p:spPr>
          <a:xfrm>
            <a:off x="548640" y="4663440"/>
            <a:ext cx="8229600" cy="228600"/>
          </a:xfrm>
          <a:prstGeom prst="rect">
            <a:avLst/>
          </a:prstGeom>
          <a:noFill/>
          <a:ln/>
        </p:spPr>
        <p:txBody>
          <a:bodyPr wrap="square" rtlCol="0" anchor="ctr"/>
          <a:lstStyle/>
          <a:p>
            <a:pPr indent="0" marL="0">
              <a:buNone/>
            </a:pPr>
            <a:r>
              <a:rPr lang="en-US" sz="1000" dirty="0">
                <a:solidFill>
                  <a:srgbClr val="8B9CB6"/>
                </a:solidFill>
                <a:latin typeface="Calibri" pitchFamily="34" charset="0"/>
                <a:ea typeface="Calibri" pitchFamily="34" charset="-122"/>
                <a:cs typeface="Calibri" pitchFamily="34" charset="-120"/>
              </a:rPr>
              <a:t>Matthew Cook  |  MCOOK20  |  CIS 509  |  ASU W.P. Carey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Matthew Cook</dc:creator>
  <cp:lastModifiedBy>Matthew Cook</cp:lastModifiedBy>
  <cp:revision>1</cp:revision>
  <dcterms:created xsi:type="dcterms:W3CDTF">2026-05-02T10:41:35Z</dcterms:created>
  <dcterms:modified xsi:type="dcterms:W3CDTF">2026-05-02T10:41:35Z</dcterms:modified>
</cp:coreProperties>
</file>