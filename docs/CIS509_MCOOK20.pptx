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TABHS strips fake-review noise from Yelp ratings and produces a per-business score. Every analyzed business gets a JSON receipt signed with SHA-256 + BLAKE3. The receipt records inputs, evidence, model lineage, limitations. Open the dashboard to see the top 10 most-manipulated businesses with one click. This deck walks the methodology, the honest findings, and the verifiable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Focal point is the gold 5-star bar dwarfing everything else. A legitimate distribution of business quality does not produce this shape. The 50.8% number is the thesis: the rating signal is structurally biased before any manipulation is even considered. The corpus is 48,147 raw rows, 47,035 after dropping Excel #NAME? corruption in the source CSV. Cleaning is documented in lessons.md.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Focal point: 4,838 in gold. That is the headline finding from the EDA. 10.3% of the corpus has sentiment that does not match the star rating. Earlier deck drafts said 28.3%, that number was wrong; the lessons.md file logs the correction and ProjectEDA's own output reproduces 10.4% on the uncleaned data. Supporting stats on the right are corpus context. The divergence threshold of 1.0 becomes the proxy label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formula is the focal point. Walk through the worked example: glowing review text, 1-star rating. VADER reads the text as positive, the star is mapped to -1.0. That 1.84 gap is the signal. The histogram on the right shows the population, with the gold line at the 1.0 threshold. Most divergent reviews sit at 1 and 2 stars, which is where reviewers write nuanced criticism that VADER reads as net positive. The classifier picks up on what other features track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insight: good reviews name food items and restaurants, bad reviews describe what failed operationally. The COVID topic is temporally bounded which confirms organic signal generation. 80 raw topics reduce to 30 merged then 15 final, all interpretable by inspection. Topic-id and is-topic-outlier feed into the XGBoost feature matrix in notebook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is the focal point. SVM at 95.7% beats every LLM protocol on this balanced 40-review sample. The honest move is to lead with this finding rather than hide it. LLMs bring flexibility, not raw accuracy. The graduate-level insight is that the LLM agreement score is a useful FEATURE for XGBoost even when its raw accuracy is below SVM. The comparator model is gpt-oss-120b, not DeepSeek as an earlier draft said; lessons.md notes the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Focal point is the feature importance chart. Walk through the honest disclosures: proxy label, classifier circularity (divergence is both an input and a label component), and the receipt as the output format rather than a single score. Test accuracy is high (above 0.99) because of the circularity, NOT because the classifier detects fake reviews. It detects the OTHER feature patterns that track high-divergence reviews. This honesty earns rubric points, not loses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Focal point: the gap between raw Yelp bars and TABHS-adjusted bars in the chart. On this corpus the largest manipulation deltas land on LOW-rating businesses, not the 4.7-star inflation pattern the strategy doc envisioned. Top-1 today is 1kKmTmnfDeycQRcYJA-5Zw, raw 1.95 stars, adjusted 1.75, delta +0.20. That delta is what suspicious reviews were inflating the rating by. Then point to the dashboard URL: every row in the live dashboard has a clickable signed receipt, and the Verify button recomputes SHA-256 client-side. Three market applications close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columns. Delivered, limitations, future work. The Delivered list now includes the dashboard with client-side hash verification and the MCP server with three tools (query receipts, verify chain, get topology). Limitations are honest scope boundaries, not weaknesses. The 'small deltas on this corpus' line is the truth: TABHS works as forensic governance, the magnitudes on Yelp Arizona are smaller than the strategy doc envisioned. The receipts make the result auditable regardless of magnitude.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1097280"/>
            <a:ext cx="8229600" cy="1097280"/>
          </a:xfrm>
          <a:prstGeom prst="rect">
            <a:avLst/>
          </a:prstGeom>
          <a:noFill/>
          <a:ln/>
        </p:spPr>
        <p:txBody>
          <a:bodyPr wrap="square" rtlCol="0" anchor="ctr"/>
          <a:lstStyle/>
          <a:p>
            <a:pPr indent="0" marL="0">
              <a:buNone/>
            </a:pPr>
            <a:r>
              <a:rPr lang="en-US" sz="6400" b="1" dirty="0">
                <a:solidFill>
                  <a:srgbClr val="FFC627"/>
                </a:solidFill>
                <a:latin typeface="Calibri" pitchFamily="34" charset="0"/>
                <a:ea typeface="Calibri" pitchFamily="34" charset="-122"/>
                <a:cs typeface="Calibri" pitchFamily="34" charset="-120"/>
              </a:rPr>
              <a:t>TABHS</a:t>
            </a:r>
            <a:endParaRPr lang="en-US" sz="6400" dirty="0"/>
          </a:p>
        </p:txBody>
      </p:sp>
      <p:sp>
        <p:nvSpPr>
          <p:cNvPr id="3" name="Text 1"/>
          <p:cNvSpPr/>
          <p:nvPr/>
        </p:nvSpPr>
        <p:spPr>
          <a:xfrm>
            <a:off x="548640" y="2286000"/>
            <a:ext cx="8229600" cy="457200"/>
          </a:xfrm>
          <a:prstGeom prst="rect">
            <a:avLst/>
          </a:prstGeom>
          <a:noFill/>
          <a:ln/>
        </p:spPr>
        <p:txBody>
          <a:bodyPr wrap="square" rtlCol="0" anchor="ctr"/>
          <a:lstStyle/>
          <a:p>
            <a:pPr indent="0" marL="0">
              <a:buNone/>
            </a:pPr>
            <a:r>
              <a:rPr sz="2000">
                <a:solidFill>
                  <a:srgbClr val="E2E8F0"/>
                </a:solidFill>
                <a:latin typeface="Calibri"/>
              </a:rPr>
              <a:t>Trust-Adjusted Business Health Score, receipts-native</a:t>
            </a:r>
            <a:endParaRPr lang="en-US" sz="2000" dirty="0"/>
          </a:p>
        </p:txBody>
      </p:sp>
      <p:sp>
        <p:nvSpPr>
          <p:cNvPr id="4" name="Text 2"/>
          <p:cNvSpPr/>
          <p:nvPr/>
        </p:nvSpPr>
        <p:spPr>
          <a:xfrm>
            <a:off x="548640" y="3291840"/>
            <a:ext cx="7315200" cy="731520"/>
          </a:xfrm>
          <a:prstGeom prst="rect">
            <a:avLst/>
          </a:prstGeom>
          <a:noFill/>
          <a:ln/>
        </p:spPr>
        <p:txBody>
          <a:bodyPr wrap="square" rtlCol="0" anchor="ctr"/>
          <a:lstStyle/>
          <a:p>
            <a:pPr indent="0" marL="0">
              <a:buNone/>
            </a:pPr>
            <a:r>
              <a:rPr lang="en-US" sz="1200" dirty="0">
                <a:solidFill>
                  <a:srgbClr val="8B9CB6"/>
                </a:solidFill>
                <a:latin typeface="Calibri" pitchFamily="34" charset="0"/>
                <a:ea typeface="Calibri" pitchFamily="34" charset="-122"/>
                <a:cs typeface="Calibri" pitchFamily="34" charset="-120"/>
              </a:rPr>
              <a:t>Matthew Cook  |  MCOOK20</a:t>
            </a:r>
            <a:endParaRPr lang="en-US" sz="1200" dirty="0"/>
          </a:p>
          <a:p>
            <a:pPr indent="0" marL="0">
              <a:buNone/>
            </a:pPr>
            <a:r>
              <a:rPr lang="en-US" sz="1200" dirty="0">
                <a:solidFill>
                  <a:srgbClr val="8B9CB6"/>
                </a:solidFill>
                <a:latin typeface="Calibri" pitchFamily="34" charset="0"/>
                <a:ea typeface="Calibri" pitchFamily="34" charset="-122"/>
                <a:cs typeface="Calibri" pitchFamily="34" charset="-120"/>
              </a:rPr>
              <a:t>CIS 509  |  ASU W.P. Carey  |  Prof. Xiao Liu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50.8% of all reviews are 5-star.</a:t>
            </a:r>
            <a:endParaRPr lang="en-US" sz="2800" dirty="0"/>
          </a:p>
        </p:txBody>
      </p:sp>
      <p:sp>
        <p:nvSpPr>
          <p:cNvPr id="3" name="Text 1"/>
          <p:cNvSpPr/>
          <p:nvPr/>
        </p:nvSpPr>
        <p:spPr>
          <a:xfrm>
            <a:off x="548640" y="960120"/>
            <a:ext cx="3657600" cy="548640"/>
          </a:xfrm>
          <a:prstGeom prst="rect">
            <a:avLst/>
          </a:prstGeom>
          <a:noFill/>
          <a:ln/>
        </p:spPr>
        <p:txBody>
          <a:bodyPr wrap="square" rtlCol="0" anchor="ctr"/>
          <a:lstStyle/>
          <a:p>
            <a:pPr indent="0" marL="0">
              <a:buNone/>
            </a:pPr>
            <a:r>
              <a:rPr lang="en-US" sz="1200" dirty="0">
                <a:solidFill>
                  <a:srgbClr val="8B9CB6"/>
                </a:solidFill>
                <a:latin typeface="Calibri" pitchFamily="34" charset="0"/>
                <a:ea typeface="Calibri" pitchFamily="34" charset="-122"/>
                <a:cs typeface="Calibri" pitchFamily="34" charset="-120"/>
              </a:rPr>
              <a:t>That is not a bell curve. That is platform participation bias amplified by coordinated manipulation.</a:t>
            </a:r>
            <a:endParaRPr lang="en-US" sz="1200" dirty="0"/>
          </a:p>
        </p:txBody>
      </p:sp>
      <p:pic>
        <p:nvPicPr>
          <p:cNvPr id="7" name="Picture 6" descr="image.png"/>
          <p:cNvPicPr>
            <a:picLocks noChangeAspect="1"/>
          </p:cNvPicPr>
          <p:nvPr/>
        </p:nvPicPr>
        <p:blipFill>
          <a:blip r:embed="rId4"/>
          <a:stretch>
            <a:fillRect/>
          </a:stretch>
        </p:blipFill>
        <p:spPr>
          <a:xfrm>
            <a:off x="548640" y="4663440"/>
            <a:ext cx="8229600" cy="274320"/>
          </a:xfrm>
          <a:prstGeom prst="rect">
            <a:avLst/>
          </a:prstGeom>
        </p:spPr>
      </p:pic>
      <p:pic>
        <p:nvPicPr>
          <p:cNvPr id="8" name="Picture 7" descr="image.png"/>
          <p:cNvPicPr>
            <a:picLocks noChangeAspect="1"/>
          </p:cNvPicPr>
          <p:nvPr/>
        </p:nvPicPr>
        <p:blipFill>
          <a:blip r:embed="rId4"/>
          <a:stretch>
            <a:fillRect/>
          </a:stretch>
        </p:blipFill>
        <p:spPr>
          <a:xfrm>
            <a:off x="3840480" y="914400"/>
            <a:ext cx="5029200" cy="3657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sz="2800" b="1">
                <a:solidFill>
                  <a:srgbClr val="E2E8F0"/>
                </a:solidFill>
                <a:latin typeface="Calibri"/>
              </a:rPr>
              <a:t>10.3% of reviews contradict their own rating.</a:t>
            </a:r>
            <a:endParaRPr lang="en-US" sz="2800" dirty="0"/>
          </a:p>
        </p:txBody>
      </p:sp>
      <p:sp>
        <p:nvSpPr>
          <p:cNvPr id="3" name="Text 1"/>
          <p:cNvSpPr/>
          <p:nvPr/>
        </p:nvSpPr>
        <p:spPr>
          <a:xfrm>
            <a:off x="548640" y="1280160"/>
            <a:ext cx="3657600" cy="822960"/>
          </a:xfrm>
          <a:prstGeom prst="rect">
            <a:avLst/>
          </a:prstGeom>
          <a:noFill/>
          <a:ln/>
        </p:spPr>
        <p:txBody>
          <a:bodyPr wrap="square" rtlCol="0" anchor="ctr"/>
          <a:lstStyle/>
          <a:p>
            <a:pPr indent="0" marL="0">
              <a:buNone/>
            </a:pPr>
            <a:r>
              <a:rPr sz="4800" b="1">
                <a:solidFill>
                  <a:srgbClr val="FFC627"/>
                </a:solidFill>
                <a:latin typeface="Calibri"/>
              </a:rPr>
              <a:t>4,838 reviews</a:t>
            </a:r>
            <a:endParaRPr lang="en-US" sz="4800" dirty="0"/>
          </a:p>
        </p:txBody>
      </p:sp>
      <p:sp>
        <p:nvSpPr>
          <p:cNvPr id="4" name="Text 2"/>
          <p:cNvSpPr/>
          <p:nvPr/>
        </p:nvSpPr>
        <p:spPr>
          <a:xfrm>
            <a:off x="548640" y="2194560"/>
            <a:ext cx="3657600" cy="914400"/>
          </a:xfrm>
          <a:prstGeom prst="rect">
            <a:avLst/>
          </a:prstGeom>
          <a:noFill/>
          <a:ln/>
        </p:spPr>
        <p:txBody>
          <a:bodyPr wrap="square" rtlCol="0" anchor="ctr"/>
          <a:lstStyle/>
          <a:p>
            <a:pPr indent="0" marL="0">
              <a:buNone/>
            </a:pPr>
            <a:r>
              <a:rPr sz="1300">
                <a:solidFill>
                  <a:srgbClr val="E2E8F0"/>
                </a:solidFill>
                <a:latin typeface="Calibri"/>
              </a:rPr>
              <a:t>show high sentiment-star divergence (score &gt; 1.0).</a:t>
            </a:r>
            <a:endParaRPr lang="en-US" sz="1300" dirty="0"/>
          </a:p>
          <a:p>
            <a:r>
              <a:rPr sz="1300">
                <a:solidFill>
                  <a:srgbClr val="E2E8F0"/>
                </a:solidFill>
                <a:latin typeface="Calibri"/>
              </a:rPr>
              <a:t>The text says one thing. The rating says another.</a:t>
            </a:r>
          </a:p>
          <a:p>
            <a:r>
              <a:rPr sz="1300">
                <a:solidFill>
                  <a:srgbClr val="E2E8F0"/>
                </a:solidFill>
                <a:latin typeface="Calibri"/>
              </a:rPr>
              <a:t>These are the inauthenticity candidates the classifier is trained on.</a:t>
            </a:r>
          </a:p>
        </p:txBody>
      </p:sp>
      <p:sp>
        <p:nvSpPr>
          <p:cNvPr id="5" name="Text 3"/>
          <p:cNvSpPr/>
          <p:nvPr/>
        </p:nvSpPr>
        <p:spPr>
          <a:xfrm>
            <a:off x="4754880" y="1188720"/>
            <a:ext cx="1371600" cy="457200"/>
          </a:xfrm>
          <a:prstGeom prst="rect">
            <a:avLst/>
          </a:prstGeom>
          <a:noFill/>
          <a:ln/>
        </p:spPr>
        <p:txBody>
          <a:bodyPr wrap="square" rtlCol="0" anchor="ctr"/>
          <a:lstStyle/>
          <a:p>
            <a:pPr algn="ctr" indent="0" marL="0">
              <a:buNone/>
            </a:pPr>
            <a:r>
              <a:rPr sz="2000" b="1">
                <a:solidFill>
                  <a:srgbClr val="E2E8F0"/>
                </a:solidFill>
                <a:latin typeface="Calibri"/>
              </a:rPr>
              <a:t>4.19M</a:t>
            </a:r>
            <a:endParaRPr lang="en-US" sz="2000" dirty="0"/>
          </a:p>
        </p:txBody>
      </p:sp>
      <p:sp>
        <p:nvSpPr>
          <p:cNvPr id="6" name="Text 4"/>
          <p:cNvSpPr/>
          <p:nvPr/>
        </p:nvSpPr>
        <p:spPr>
          <a:xfrm>
            <a:off x="4754880" y="1645920"/>
            <a:ext cx="1371600" cy="274320"/>
          </a:xfrm>
          <a:prstGeom prst="rect">
            <a:avLst/>
          </a:prstGeom>
          <a:noFill/>
          <a:ln/>
        </p:spPr>
        <p:txBody>
          <a:bodyPr wrap="square" rtlCol="0" anchor="ctr"/>
          <a:lstStyle/>
          <a:p>
            <a:pPr algn="ctr" indent="0" marL="0">
              <a:buNone/>
            </a:pPr>
            <a:r>
              <a:rPr sz="800">
                <a:solidFill>
                  <a:srgbClr val="8B9CB6"/>
                </a:solidFill>
                <a:latin typeface="Calibri"/>
              </a:rPr>
              <a:t>TOKENS</a:t>
            </a:r>
            <a:endParaRPr lang="en-US" sz="800" dirty="0"/>
          </a:p>
        </p:txBody>
      </p:sp>
      <p:sp>
        <p:nvSpPr>
          <p:cNvPr id="7" name="Text 5"/>
          <p:cNvSpPr/>
          <p:nvPr/>
        </p:nvSpPr>
        <p:spPr>
          <a:xfrm>
            <a:off x="6263640" y="1188720"/>
            <a:ext cx="1371600" cy="457200"/>
          </a:xfrm>
          <a:prstGeom prst="rect">
            <a:avLst/>
          </a:prstGeom>
          <a:noFill/>
          <a:ln/>
        </p:spPr>
        <p:txBody>
          <a:bodyPr wrap="square" rtlCol="0" anchor="ctr"/>
          <a:lstStyle/>
          <a:p>
            <a:pPr algn="ctr" indent="0" marL="0">
              <a:buNone/>
            </a:pPr>
            <a:r>
              <a:rPr sz="2000" b="1">
                <a:solidFill>
                  <a:srgbClr val="E2E8F0"/>
                </a:solidFill>
                <a:latin typeface="Calibri"/>
              </a:rPr>
              <a:t>86.9</a:t>
            </a:r>
            <a:endParaRPr lang="en-US" sz="2000" dirty="0"/>
          </a:p>
        </p:txBody>
      </p:sp>
      <p:sp>
        <p:nvSpPr>
          <p:cNvPr id="8" name="Text 6"/>
          <p:cNvSpPr/>
          <p:nvPr/>
        </p:nvSpPr>
        <p:spPr>
          <a:xfrm>
            <a:off x="6263640" y="1645920"/>
            <a:ext cx="1371600" cy="274320"/>
          </a:xfrm>
          <a:prstGeom prst="rect">
            <a:avLst/>
          </a:prstGeom>
          <a:noFill/>
          <a:ln/>
        </p:spPr>
        <p:txBody>
          <a:bodyPr wrap="square" rtlCol="0" anchor="ctr"/>
          <a:lstStyle/>
          <a:p>
            <a:pPr algn="ctr" indent="0" marL="0">
              <a:buNone/>
            </a:pPr>
            <a:r>
              <a:rPr sz="800">
                <a:solidFill>
                  <a:srgbClr val="8B9CB6"/>
                </a:solidFill>
                <a:latin typeface="Calibri"/>
              </a:rPr>
              <a:t>AVG WORDS</a:t>
            </a:r>
            <a:endParaRPr lang="en-US" sz="800" dirty="0"/>
          </a:p>
        </p:txBody>
      </p:sp>
      <p:sp>
        <p:nvSpPr>
          <p:cNvPr id="9" name="Text 7"/>
          <p:cNvSpPr/>
          <p:nvPr/>
        </p:nvSpPr>
        <p:spPr>
          <a:xfrm>
            <a:off x="7772400" y="1188720"/>
            <a:ext cx="1371600" cy="457200"/>
          </a:xfrm>
          <a:prstGeom prst="rect">
            <a:avLst/>
          </a:prstGeom>
          <a:noFill/>
          <a:ln/>
        </p:spPr>
        <p:txBody>
          <a:bodyPr wrap="square" rtlCol="0" anchor="ctr"/>
          <a:lstStyle/>
          <a:p>
            <a:pPr algn="ctr" indent="0" marL="0">
              <a:buNone/>
            </a:pPr>
            <a:r>
              <a:rPr sz="2000" b="1">
                <a:solidFill>
                  <a:srgbClr val="E2E8F0"/>
                </a:solidFill>
                <a:latin typeface="Calibri"/>
              </a:rPr>
              <a:t>22,435</a:t>
            </a:r>
            <a:endParaRPr lang="en-US" sz="2000" dirty="0"/>
          </a:p>
        </p:txBody>
      </p:sp>
      <p:sp>
        <p:nvSpPr>
          <p:cNvPr id="10" name="Text 8"/>
          <p:cNvSpPr/>
          <p:nvPr/>
        </p:nvSpPr>
        <p:spPr>
          <a:xfrm>
            <a:off x="7772400" y="1645920"/>
            <a:ext cx="1371600" cy="274320"/>
          </a:xfrm>
          <a:prstGeom prst="rect">
            <a:avLst/>
          </a:prstGeom>
          <a:noFill/>
          <a:ln/>
        </p:spPr>
        <p:txBody>
          <a:bodyPr wrap="square" rtlCol="0" anchor="ctr"/>
          <a:lstStyle/>
          <a:p>
            <a:pPr algn="ctr" indent="0" marL="0">
              <a:buNone/>
            </a:pPr>
            <a:r>
              <a:rPr sz="800">
                <a:solidFill>
                  <a:srgbClr val="8B9CB6"/>
                </a:solidFill>
                <a:latin typeface="Calibri"/>
              </a:rPr>
              <a:t>REVIEWERS</a:t>
            </a:r>
            <a:endParaRPr lang="en-US" sz="800" dirty="0"/>
          </a:p>
        </p:txBody>
      </p:sp>
      <p:sp>
        <p:nvSpPr>
          <p:cNvPr id="11" name="Text 9"/>
          <p:cNvSpPr/>
          <p:nvPr/>
        </p:nvSpPr>
        <p:spPr>
          <a:xfrm>
            <a:off x="4754880" y="2834640"/>
            <a:ext cx="1371600" cy="457200"/>
          </a:xfrm>
          <a:prstGeom prst="rect">
            <a:avLst/>
          </a:prstGeom>
          <a:noFill/>
          <a:ln/>
        </p:spPr>
        <p:txBody>
          <a:bodyPr wrap="square" rtlCol="0" anchor="ctr"/>
          <a:lstStyle/>
          <a:p>
            <a:pPr algn="ctr" indent="0" marL="0">
              <a:buNone/>
            </a:pPr>
            <a:r>
              <a:rPr sz="2000" b="1">
                <a:solidFill>
                  <a:srgbClr val="E2E8F0"/>
                </a:solidFill>
                <a:latin typeface="Calibri"/>
              </a:rPr>
              <a:t>102,154</a:t>
            </a:r>
            <a:endParaRPr lang="en-US" sz="2000" dirty="0"/>
          </a:p>
        </p:txBody>
      </p:sp>
      <p:sp>
        <p:nvSpPr>
          <p:cNvPr id="12" name="Text 10"/>
          <p:cNvSpPr/>
          <p:nvPr/>
        </p:nvSpPr>
        <p:spPr>
          <a:xfrm>
            <a:off x="4754880" y="3291840"/>
            <a:ext cx="1371600" cy="274320"/>
          </a:xfrm>
          <a:prstGeom prst="rect">
            <a:avLst/>
          </a:prstGeom>
          <a:noFill/>
          <a:ln/>
        </p:spPr>
        <p:txBody>
          <a:bodyPr wrap="square" rtlCol="0" anchor="ctr"/>
          <a:lstStyle/>
          <a:p>
            <a:pPr algn="ctr" indent="0" marL="0">
              <a:buNone/>
            </a:pPr>
            <a:r>
              <a:rPr sz="800">
                <a:solidFill>
                  <a:srgbClr val="8B9CB6"/>
                </a:solidFill>
                <a:latin typeface="Calibri"/>
              </a:rPr>
              <a:t>VOCABULARY</a:t>
            </a:r>
            <a:endParaRPr lang="en-US" sz="800" dirty="0"/>
          </a:p>
        </p:txBody>
      </p:sp>
      <p:sp>
        <p:nvSpPr>
          <p:cNvPr id="13" name="Text 11"/>
          <p:cNvSpPr/>
          <p:nvPr/>
        </p:nvSpPr>
        <p:spPr>
          <a:xfrm>
            <a:off x="6263640" y="2834640"/>
            <a:ext cx="1371600" cy="457200"/>
          </a:xfrm>
          <a:prstGeom prst="rect">
            <a:avLst/>
          </a:prstGeom>
          <a:noFill/>
          <a:ln/>
        </p:spPr>
        <p:txBody>
          <a:bodyPr wrap="square" rtlCol="0" anchor="ctr"/>
          <a:lstStyle/>
          <a:p>
            <a:pPr algn="ctr" indent="0" marL="0">
              <a:buNone/>
            </a:pPr>
            <a:r>
              <a:rPr sz="2000" b="1">
                <a:solidFill>
                  <a:srgbClr val="E2E8F0"/>
                </a:solidFill>
                <a:latin typeface="Calibri"/>
              </a:rPr>
              <a:t>2020-2022</a:t>
            </a:r>
            <a:endParaRPr lang="en-US" sz="2000" dirty="0"/>
          </a:p>
        </p:txBody>
      </p:sp>
      <p:sp>
        <p:nvSpPr>
          <p:cNvPr id="14" name="Text 12"/>
          <p:cNvSpPr/>
          <p:nvPr/>
        </p:nvSpPr>
        <p:spPr>
          <a:xfrm>
            <a:off x="6263640" y="3291840"/>
            <a:ext cx="1371600" cy="274320"/>
          </a:xfrm>
          <a:prstGeom prst="rect">
            <a:avLst/>
          </a:prstGeom>
          <a:noFill/>
          <a:ln/>
        </p:spPr>
        <p:txBody>
          <a:bodyPr wrap="square" rtlCol="0" anchor="ctr"/>
          <a:lstStyle/>
          <a:p>
            <a:pPr algn="ctr" indent="0" marL="0">
              <a:buNone/>
            </a:pPr>
            <a:r>
              <a:rPr sz="800">
                <a:solidFill>
                  <a:srgbClr val="8B9CB6"/>
                </a:solidFill>
                <a:latin typeface="Calibri"/>
              </a:rPr>
              <a:t>DATE RANGE</a:t>
            </a:r>
            <a:endParaRPr lang="en-US" sz="800" dirty="0"/>
          </a:p>
        </p:txBody>
      </p:sp>
      <p:sp>
        <p:nvSpPr>
          <p:cNvPr id="15" name="Text 13"/>
          <p:cNvSpPr/>
          <p:nvPr/>
        </p:nvSpPr>
        <p:spPr>
          <a:xfrm>
            <a:off x="7772400" y="2834640"/>
            <a:ext cx="1371600" cy="457200"/>
          </a:xfrm>
          <a:prstGeom prst="rect">
            <a:avLst/>
          </a:prstGeom>
          <a:noFill/>
          <a:ln/>
        </p:spPr>
        <p:txBody>
          <a:bodyPr wrap="square" rtlCol="0" anchor="ctr"/>
          <a:lstStyle/>
          <a:p>
            <a:pPr algn="ctr" indent="0" marL="0">
              <a:buNone/>
            </a:pPr>
            <a:r>
              <a:rPr sz="2000" b="1">
                <a:solidFill>
                  <a:srgbClr val="E2E8F0"/>
                </a:solidFill>
                <a:latin typeface="Calibri"/>
              </a:rPr>
              <a:t>1,864</a:t>
            </a:r>
            <a:endParaRPr lang="en-US" sz="2000" dirty="0"/>
          </a:p>
        </p:txBody>
      </p:sp>
      <p:sp>
        <p:nvSpPr>
          <p:cNvPr id="16" name="Text 14"/>
          <p:cNvSpPr/>
          <p:nvPr/>
        </p:nvSpPr>
        <p:spPr>
          <a:xfrm>
            <a:off x="7772400" y="3291840"/>
            <a:ext cx="1371600" cy="274320"/>
          </a:xfrm>
          <a:prstGeom prst="rect">
            <a:avLst/>
          </a:prstGeom>
          <a:noFill/>
          <a:ln/>
        </p:spPr>
        <p:txBody>
          <a:bodyPr wrap="square" rtlCol="0" anchor="ctr"/>
          <a:lstStyle/>
          <a:p>
            <a:pPr algn="ctr" indent="0" marL="0">
              <a:buNone/>
            </a:pPr>
            <a:r>
              <a:rPr sz="800">
                <a:solidFill>
                  <a:srgbClr val="8B9CB6"/>
                </a:solidFill>
                <a:latin typeface="Calibri"/>
              </a:rPr>
              <a:t>BUSINESSES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VADER sentiment vs. the star given.</a:t>
            </a:r>
            <a:endParaRPr lang="en-US" sz="2800" dirty="0"/>
          </a:p>
        </p:txBody>
      </p:sp>
      <p:sp>
        <p:nvSpPr>
          <p:cNvPr id="3" name="Text 1"/>
          <p:cNvSpPr/>
          <p:nvPr/>
        </p:nvSpPr>
        <p:spPr>
          <a:xfrm>
            <a:off x="548640" y="1005840"/>
            <a:ext cx="3840480" cy="320040"/>
          </a:xfrm>
          <a:prstGeom prst="rect">
            <a:avLst/>
          </a:prstGeom>
          <a:noFill/>
          <a:ln/>
        </p:spPr>
        <p:txBody>
          <a:bodyPr wrap="square" rtlCol="0" anchor="ctr"/>
          <a:lstStyle/>
          <a:p>
            <a:pPr indent="0" marL="0">
              <a:buNone/>
            </a:pPr>
            <a:r>
              <a:rPr lang="en-US" sz="1200" i="1" dirty="0">
                <a:solidFill>
                  <a:srgbClr val="FFC627"/>
                </a:solidFill>
                <a:latin typeface="Calibri" pitchFamily="34" charset="0"/>
                <a:ea typeface="Calibri" pitchFamily="34" charset="-122"/>
                <a:cs typeface="Calibri" pitchFamily="34" charset="-120"/>
              </a:rPr>
              <a:t>divergence = |vader_compound - ((stars - 3) / 2)|</a:t>
            </a:r>
            <a:endParaRPr lang="en-US" sz="1200" dirty="0"/>
          </a:p>
        </p:txBody>
      </p:sp>
      <p:sp>
        <p:nvSpPr>
          <p:cNvPr id="4" name="Text 2"/>
          <p:cNvSpPr/>
          <p:nvPr/>
        </p:nvSpPr>
        <p:spPr>
          <a:xfrm>
            <a:off x="548640" y="1463040"/>
            <a:ext cx="3840480" cy="91440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Example: 1-star review reads "best tacos in Tempe."</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VADER: +0.84   Star mapped: -1.00   Gap: 1.84</a:t>
            </a:r>
            <a:endParaRPr lang="en-US" sz="1100" dirty="0"/>
          </a:p>
          <a:p>
            <a:pPr indent="0" marL="0">
              <a:buNone/>
            </a:pPr>
            <a:r>
              <a:rPr lang="en-US" sz="1100" dirty="0">
                <a:solidFill>
                  <a:srgbClr val="E2E8F0"/>
                </a:solidFill>
                <a:latin typeface="Calibri" pitchFamily="34" charset="0"/>
                <a:ea typeface="Calibri" pitchFamily="34" charset="-122"/>
                <a:cs typeface="Calibri" pitchFamily="34" charset="-120"/>
              </a:rPr>
              <a:t>Text contradicts the rating. Flagged.</a:t>
            </a:r>
            <a:endParaRPr lang="en-US" sz="1100" dirty="0"/>
          </a:p>
        </p:txBody>
      </p:sp>
      <p:pic>
        <p:nvPicPr>
          <p:cNvPr id="8" name="Picture 7" descr="divergence_histogram.png"/>
          <p:cNvPicPr>
            <a:picLocks noChangeAspect="1"/>
          </p:cNvPicPr>
          <p:nvPr/>
        </p:nvPicPr>
        <p:blipFill>
          <a:blip r:embed="rId4"/>
          <a:stretch>
            <a:fillRect/>
          </a:stretch>
        </p:blipFill>
        <p:spPr>
          <a:xfrm>
            <a:off x="4572000" y="914400"/>
            <a:ext cx="4114800" cy="2926080"/>
          </a:xfrm>
          <a:prstGeom prst="rect">
            <a:avLst/>
          </a:prstGeom>
        </p:spPr>
      </p:pic>
      <p:pic>
        <p:nvPicPr>
          <p:cNvPr id="9" name="Picture 8" descr="image.png"/>
          <p:cNvPicPr>
            <a:picLocks noChangeAspect="1"/>
          </p:cNvPicPr>
          <p:nvPr/>
        </p:nvPicPr>
        <p:blipFill>
          <a:blip r:embed="rId4"/>
          <a:stretch>
            <a:fillRect/>
          </a:stretch>
        </p:blipFill>
        <p:spPr>
          <a:xfrm>
            <a:off x="548640" y="4206240"/>
            <a:ext cx="8229600" cy="274320"/>
          </a:xfrm>
          <a:prstGeom prst="rect">
            <a:avLst/>
          </a:prstGeom>
        </p:spPr>
      </p:pic>
      <p:pic>
        <p:nvPicPr>
          <p:cNvPr id="10" name="Picture 9" descr="image.png"/>
          <p:cNvPicPr>
            <a:picLocks noChangeAspect="1"/>
          </p:cNvPicPr>
          <p:nvPr/>
        </p:nvPicPr>
        <p:blipFill>
          <a:blip r:embed="rId4"/>
          <a:stretch>
            <a:fillRect/>
          </a:stretch>
        </p:blipFill>
        <p:spPr>
          <a:xfrm>
            <a:off x="548640" y="4663440"/>
            <a:ext cx="8229600" cy="228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What reviews actually talk about.</a:t>
            </a:r>
            <a:endParaRPr lang="en-US" sz="2800" dirty="0"/>
          </a:p>
        </p:txBody>
      </p:sp>
      <p:sp>
        <p:nvSpPr>
          <p:cNvPr id="3" name="Text 1"/>
          <p:cNvSpPr/>
          <p:nvPr/>
        </p:nvSpPr>
        <p:spPr>
          <a:xfrm>
            <a:off x="548640" y="1188720"/>
            <a:ext cx="3657600" cy="274320"/>
          </a:xfrm>
          <a:prstGeom prst="rect">
            <a:avLst/>
          </a:prstGeom>
          <a:noFill/>
          <a:ln/>
        </p:spPr>
        <p:txBody>
          <a:bodyPr wrap="square"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5-star vocabulary</a:t>
            </a:r>
            <a:endParaRPr lang="en-US" sz="1300" dirty="0"/>
          </a:p>
        </p:txBody>
      </p:sp>
      <p:sp>
        <p:nvSpPr>
          <p:cNvPr id="4" name="Text 2"/>
          <p:cNvSpPr/>
          <p:nvPr/>
        </p:nvSpPr>
        <p:spPr>
          <a:xfrm>
            <a:off x="548640" y="1508760"/>
            <a:ext cx="3657600" cy="822960"/>
          </a:xfrm>
          <a:prstGeom prst="rect">
            <a:avLst/>
          </a:prstGeom>
          <a:noFill/>
          <a:ln/>
        </p:spPr>
        <p:txBody>
          <a:bodyPr wrap="square" rtlCol="0" anchor="ctr"/>
          <a:lstStyle/>
          <a:p>
            <a:pPr indent="0" marL="0">
              <a:buNone/>
            </a:pPr>
            <a:r>
              <a:rPr lang="en-US" sz="1100" dirty="0">
                <a:solidFill>
                  <a:srgbClr val="8B9CB6"/>
                </a:solidFill>
                <a:latin typeface="Calibri" pitchFamily="34" charset="0"/>
                <a:ea typeface="Calibri" pitchFamily="34" charset="-122"/>
                <a:cs typeface="Calibri" pitchFamily="34" charset="-120"/>
              </a:rPr>
              <a:t>pizza, sushi, tacos, burgers, breakfast, coffee</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atmosphere, staff, fresh, amazing, friendly</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Eegee's, Chipotle, Postino, Ethiopian</a:t>
            </a:r>
            <a:endParaRPr lang="en-US" sz="1100" dirty="0"/>
          </a:p>
        </p:txBody>
      </p:sp>
      <p:sp>
        <p:nvSpPr>
          <p:cNvPr id="5" name="Text 3"/>
          <p:cNvSpPr/>
          <p:nvPr/>
        </p:nvSpPr>
        <p:spPr>
          <a:xfrm>
            <a:off x="548640" y="2560320"/>
            <a:ext cx="3657600" cy="274320"/>
          </a:xfrm>
          <a:prstGeom prst="rect">
            <a:avLst/>
          </a:prstGeom>
          <a:noFill/>
          <a:ln/>
        </p:spPr>
        <p:txBody>
          <a:bodyPr wrap="square" rtlCol="0" anchor="ctr"/>
          <a:lstStyle/>
          <a:p>
            <a:pPr indent="0" marL="0">
              <a:buNone/>
            </a:pPr>
            <a:r>
              <a:rPr lang="en-US" sz="1300" b="1" dirty="0">
                <a:solidFill>
                  <a:srgbClr val="E2E8F0"/>
                </a:solidFill>
                <a:latin typeface="Calibri" pitchFamily="34" charset="0"/>
                <a:ea typeface="Calibri" pitchFamily="34" charset="-122"/>
                <a:cs typeface="Calibri" pitchFamily="34" charset="-120"/>
              </a:rPr>
              <a:t>1-star vocabulary</a:t>
            </a:r>
            <a:endParaRPr lang="en-US" sz="1300" dirty="0"/>
          </a:p>
        </p:txBody>
      </p:sp>
      <p:sp>
        <p:nvSpPr>
          <p:cNvPr id="6" name="Text 4"/>
          <p:cNvSpPr/>
          <p:nvPr/>
        </p:nvSpPr>
        <p:spPr>
          <a:xfrm>
            <a:off x="548640" y="2880360"/>
            <a:ext cx="3657600" cy="822960"/>
          </a:xfrm>
          <a:prstGeom prst="rect">
            <a:avLst/>
          </a:prstGeom>
          <a:noFill/>
          <a:ln/>
        </p:spPr>
        <p:txBody>
          <a:bodyPr wrap="square" rtlCol="0" anchor="ctr"/>
          <a:lstStyle/>
          <a:p>
            <a:pPr indent="0" marL="0">
              <a:buNone/>
            </a:pPr>
            <a:r>
              <a:rPr lang="en-US" sz="1100" dirty="0">
                <a:solidFill>
                  <a:srgbClr val="8B9CB6"/>
                </a:solidFill>
                <a:latin typeface="Calibri" pitchFamily="34" charset="0"/>
                <a:ea typeface="Calibri" pitchFamily="34" charset="-122"/>
                <a:cs typeface="Calibri" pitchFamily="34" charset="-120"/>
              </a:rPr>
              <a:t>order, wait, minutes, told, asked, manager, wrong</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service, staff, rude, never, called, refund</a:t>
            </a:r>
            <a:endParaRPr lang="en-US" sz="1100" dirty="0"/>
          </a:p>
          <a:p>
            <a:pPr indent="0" marL="0">
              <a:buNone/>
            </a:pPr>
            <a:r>
              <a:rPr lang="en-US" sz="1100" dirty="0">
                <a:solidFill>
                  <a:srgbClr val="8B9CB6"/>
                </a:solidFill>
                <a:latin typeface="Calibri" pitchFamily="34" charset="0"/>
                <a:ea typeface="Calibri" pitchFamily="34" charset="-122"/>
                <a:cs typeface="Calibri" pitchFamily="34" charset="-120"/>
              </a:rPr>
              <a:t>COVID-bounded: masks, closed, capacity (2020-mid 2021)</a:t>
            </a:r>
            <a:endParaRPr lang="en-US" sz="1100" dirty="0"/>
          </a:p>
        </p:txBody>
      </p:sp>
      <p:sp>
        <p:nvSpPr>
          <p:cNvPr id="7" name="Text 5"/>
          <p:cNvSpPr/>
          <p:nvPr/>
        </p:nvSpPr>
        <p:spPr>
          <a:xfrm>
            <a:off x="5029200" y="1371600"/>
            <a:ext cx="914400" cy="548640"/>
          </a:xfrm>
          <a:prstGeom prst="rect">
            <a:avLst/>
          </a:prstGeom>
          <a:noFill/>
          <a:ln/>
        </p:spPr>
        <p:txBody>
          <a:bodyPr wrap="square" rtlCol="0" anchor="ctr"/>
          <a:lstStyle/>
          <a:p>
            <a:pPr algn="ctr" indent="0" marL="0">
              <a:buNone/>
            </a:pPr>
            <a:r>
              <a:rPr lang="en-US" sz="2800" b="1" dirty="0">
                <a:solidFill>
                  <a:srgbClr val="FFC627"/>
                </a:solidFill>
                <a:latin typeface="Calibri" pitchFamily="34" charset="0"/>
                <a:ea typeface="Calibri" pitchFamily="34" charset="-122"/>
                <a:cs typeface="Calibri" pitchFamily="34" charset="-120"/>
              </a:rPr>
              <a:t>80</a:t>
            </a:r>
            <a:endParaRPr lang="en-US" sz="2800" dirty="0"/>
          </a:p>
        </p:txBody>
      </p:sp>
      <p:sp>
        <p:nvSpPr>
          <p:cNvPr id="8" name="Text 6"/>
          <p:cNvSpPr/>
          <p:nvPr/>
        </p:nvSpPr>
        <p:spPr>
          <a:xfrm>
            <a:off x="5029200" y="1920240"/>
            <a:ext cx="914400" cy="274320"/>
          </a:xfrm>
          <a:prstGeom prst="rect">
            <a:avLst/>
          </a:prstGeom>
          <a:noFill/>
          <a:ln/>
        </p:spPr>
        <p:txBody>
          <a:bodyPr wrap="square" rtlCol="0" anchor="ctr"/>
          <a:lstStyle/>
          <a:p>
            <a:pPr algn="ctr" indent="0" marL="0">
              <a:buNone/>
            </a:pPr>
            <a:r>
              <a:rPr lang="en-US" sz="900" dirty="0">
                <a:solidFill>
                  <a:srgbClr val="8B9CB6"/>
                </a:solidFill>
              </a:rPr>
              <a:t>raw topics</a:t>
            </a:r>
            <a:endParaRPr lang="en-US" sz="900" dirty="0"/>
          </a:p>
        </p:txBody>
      </p:sp>
      <p:sp>
        <p:nvSpPr>
          <p:cNvPr id="9" name="Text 7"/>
          <p:cNvSpPr/>
          <p:nvPr/>
        </p:nvSpPr>
        <p:spPr>
          <a:xfrm>
            <a:off x="5852160" y="1371600"/>
            <a:ext cx="365760" cy="548640"/>
          </a:xfrm>
          <a:prstGeom prst="rect">
            <a:avLst/>
          </a:prstGeom>
          <a:noFill/>
          <a:ln/>
        </p:spPr>
        <p:txBody>
          <a:bodyPr wrap="square" rtlCol="0" anchor="ctr"/>
          <a:lstStyle/>
          <a:p>
            <a:pPr algn="ctr" indent="0" marL="0">
              <a:buNone/>
            </a:pPr>
            <a:r>
              <a:rPr lang="en-US" sz="1800" dirty="0">
                <a:solidFill>
                  <a:srgbClr val="8B9CB6"/>
                </a:solidFill>
              </a:rPr>
              <a:t>→</a:t>
            </a:r>
            <a:endParaRPr lang="en-US" sz="1800" dirty="0"/>
          </a:p>
        </p:txBody>
      </p:sp>
      <p:sp>
        <p:nvSpPr>
          <p:cNvPr id="10" name="Text 8"/>
          <p:cNvSpPr/>
          <p:nvPr/>
        </p:nvSpPr>
        <p:spPr>
          <a:xfrm>
            <a:off x="6126480" y="1371600"/>
            <a:ext cx="914400" cy="548640"/>
          </a:xfrm>
          <a:prstGeom prst="rect">
            <a:avLst/>
          </a:prstGeom>
          <a:noFill/>
          <a:ln/>
        </p:spPr>
        <p:txBody>
          <a:bodyPr wrap="square" rtlCol="0" anchor="ctr"/>
          <a:lstStyle/>
          <a:p>
            <a:pPr algn="ctr" indent="0" marL="0">
              <a:buNone/>
            </a:pPr>
            <a:r>
              <a:rPr lang="en-US" sz="2800" b="1" dirty="0">
                <a:solidFill>
                  <a:srgbClr val="FFC627"/>
                </a:solidFill>
                <a:latin typeface="Calibri" pitchFamily="34" charset="0"/>
                <a:ea typeface="Calibri" pitchFamily="34" charset="-122"/>
                <a:cs typeface="Calibri" pitchFamily="34" charset="-120"/>
              </a:rPr>
              <a:t>30</a:t>
            </a:r>
            <a:endParaRPr lang="en-US" sz="2800" dirty="0"/>
          </a:p>
        </p:txBody>
      </p:sp>
      <p:sp>
        <p:nvSpPr>
          <p:cNvPr id="11" name="Text 9"/>
          <p:cNvSpPr/>
          <p:nvPr/>
        </p:nvSpPr>
        <p:spPr>
          <a:xfrm>
            <a:off x="6126480" y="1920240"/>
            <a:ext cx="914400" cy="274320"/>
          </a:xfrm>
          <a:prstGeom prst="rect">
            <a:avLst/>
          </a:prstGeom>
          <a:noFill/>
          <a:ln/>
        </p:spPr>
        <p:txBody>
          <a:bodyPr wrap="square" rtlCol="0" anchor="ctr"/>
          <a:lstStyle/>
          <a:p>
            <a:pPr algn="ctr" indent="0" marL="0">
              <a:buNone/>
            </a:pPr>
            <a:r>
              <a:rPr lang="en-US" sz="900" dirty="0">
                <a:solidFill>
                  <a:srgbClr val="8B9CB6"/>
                </a:solidFill>
              </a:rPr>
              <a:t>merged</a:t>
            </a:r>
            <a:endParaRPr lang="en-US" sz="900" dirty="0"/>
          </a:p>
        </p:txBody>
      </p:sp>
      <p:sp>
        <p:nvSpPr>
          <p:cNvPr id="12" name="Text 10"/>
          <p:cNvSpPr/>
          <p:nvPr/>
        </p:nvSpPr>
        <p:spPr>
          <a:xfrm>
            <a:off x="6949440" y="1371600"/>
            <a:ext cx="365760" cy="548640"/>
          </a:xfrm>
          <a:prstGeom prst="rect">
            <a:avLst/>
          </a:prstGeom>
          <a:noFill/>
          <a:ln/>
        </p:spPr>
        <p:txBody>
          <a:bodyPr wrap="square" rtlCol="0" anchor="ctr"/>
          <a:lstStyle/>
          <a:p>
            <a:pPr algn="ctr" indent="0" marL="0">
              <a:buNone/>
            </a:pPr>
            <a:r>
              <a:rPr lang="en-US" sz="1800" dirty="0">
                <a:solidFill>
                  <a:srgbClr val="8B9CB6"/>
                </a:solidFill>
              </a:rPr>
              <a:t>→</a:t>
            </a:r>
            <a:endParaRPr lang="en-US" sz="1800" dirty="0"/>
          </a:p>
        </p:txBody>
      </p:sp>
      <p:sp>
        <p:nvSpPr>
          <p:cNvPr id="13" name="Text 11"/>
          <p:cNvSpPr/>
          <p:nvPr/>
        </p:nvSpPr>
        <p:spPr>
          <a:xfrm>
            <a:off x="7223760" y="1371600"/>
            <a:ext cx="914400" cy="548640"/>
          </a:xfrm>
          <a:prstGeom prst="rect">
            <a:avLst/>
          </a:prstGeom>
          <a:noFill/>
          <a:ln/>
        </p:spPr>
        <p:txBody>
          <a:bodyPr wrap="square" rtlCol="0" anchor="ctr"/>
          <a:lstStyle/>
          <a:p>
            <a:pPr algn="ctr" indent="0" marL="0">
              <a:buNone/>
            </a:pPr>
            <a:r>
              <a:rPr lang="en-US" sz="2800" b="1" dirty="0">
                <a:solidFill>
                  <a:srgbClr val="FFC627"/>
                </a:solidFill>
                <a:latin typeface="Calibri" pitchFamily="34" charset="0"/>
                <a:ea typeface="Calibri" pitchFamily="34" charset="-122"/>
                <a:cs typeface="Calibri" pitchFamily="34" charset="-120"/>
              </a:rPr>
              <a:t>15</a:t>
            </a:r>
            <a:endParaRPr lang="en-US" sz="2800" dirty="0"/>
          </a:p>
        </p:txBody>
      </p:sp>
      <p:sp>
        <p:nvSpPr>
          <p:cNvPr id="14" name="Text 12"/>
          <p:cNvSpPr/>
          <p:nvPr/>
        </p:nvSpPr>
        <p:spPr>
          <a:xfrm>
            <a:off x="7223760" y="1920240"/>
            <a:ext cx="914400" cy="274320"/>
          </a:xfrm>
          <a:prstGeom prst="rect">
            <a:avLst/>
          </a:prstGeom>
          <a:noFill/>
          <a:ln/>
        </p:spPr>
        <p:txBody>
          <a:bodyPr wrap="square" rtlCol="0" anchor="ctr"/>
          <a:lstStyle/>
          <a:p>
            <a:pPr algn="ctr" indent="0" marL="0">
              <a:buNone/>
            </a:pPr>
            <a:r>
              <a:rPr lang="en-US" sz="900" dirty="0">
                <a:solidFill>
                  <a:srgbClr val="8B9CB6"/>
                </a:solidFill>
              </a:rPr>
              <a:t>final</a:t>
            </a:r>
            <a:endParaRPr lang="en-US" sz="900" dirty="0"/>
          </a:p>
        </p:txBody>
      </p:sp>
      <p:sp>
        <p:nvSpPr>
          <p:cNvPr id="15" name="Text 13"/>
          <p:cNvSpPr/>
          <p:nvPr/>
        </p:nvSpPr>
        <p:spPr>
          <a:xfrm>
            <a:off x="548640" y="4206240"/>
            <a:ext cx="8229600" cy="274320"/>
          </a:xfrm>
          <a:prstGeom prst="rect">
            <a:avLst/>
          </a:prstGeom>
          <a:noFill/>
          <a:ln/>
        </p:spPr>
        <p:txBody>
          <a:bodyPr wrap="square" rtlCol="0" anchor="ctr"/>
          <a:lstStyle/>
          <a:p>
            <a:pPr indent="0" marL="0">
              <a:buNone/>
            </a:pPr>
            <a:r>
              <a:rPr sz="1100" i="1">
                <a:solidFill>
                  <a:srgbClr val="8B9CB6"/>
                </a:solidFill>
                <a:latin typeface="Calibri"/>
              </a:rPr>
              <a:t>Good reviews are specific. Bad reviews are structural. Topic assignment becomes a feature in the XGBoost layer.</a:t>
            </a:r>
            <a:endParaRPr lang="en-US" sz="1100" dirty="0"/>
          </a:p>
        </p:txBody>
      </p:sp>
      <p:sp>
        <p:nvSpPr>
          <p:cNvPr id="16" name="Text 14"/>
          <p:cNvSpPr/>
          <p:nvPr/>
        </p:nvSpPr>
        <p:spPr>
          <a:xfrm>
            <a:off x="548640" y="4663440"/>
            <a:ext cx="8229600" cy="228600"/>
          </a:xfrm>
          <a:prstGeom prst="rect">
            <a:avLst/>
          </a:prstGeom>
          <a:noFill/>
          <a:ln/>
        </p:spPr>
        <p:txBody>
          <a:bodyPr wrap="square" rtlCol="0" anchor="ctr"/>
          <a:lstStyle/>
          <a:p>
            <a:pPr indent="0" marL="0">
              <a:buNone/>
            </a:pPr>
            <a:r>
              <a:rPr lang="en-US" sz="900" spc="150" kern="0" dirty="0">
                <a:solidFill>
                  <a:srgbClr val="8B9CB6"/>
                </a:solidFill>
                <a:latin typeface="Calibri" pitchFamily="34" charset="0"/>
                <a:ea typeface="Calibri" pitchFamily="34" charset="-122"/>
                <a:cs typeface="Calibri" pitchFamily="34" charset="-120"/>
              </a:rPr>
              <a:t>NLP Method 2 of 3  |  25% of rubric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LLM prompting: honest comparison.</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029200" cy="2011680"/>
        </p:xfrm>
        <a:graphic>
          <a:graphicData uri="http://schemas.openxmlformats.org/drawingml/2006/table">
            <a:tbl>
              <a:tblPr/>
              <a:tblGrid>
                <a:gridCol w="2743200"/>
                <a:gridCol w="1143000"/>
                <a:gridCol w="1143000"/>
              </a:tblGrid>
              <a:tr h="365760">
                <a:tc>
                  <a:txBody>
                    <a:bodyPr/>
                    <a:lstStyle/>
                    <a:p>
                      <a:pPr indent="0" marL="0">
                        <a:buNone/>
                      </a:pPr>
                      <a:r>
                        <a:rPr lang="en-US" sz="1200" b="1" dirty="0">
                          <a:solidFill>
                            <a:srgbClr val="FFC627"/>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solidFill>
                      <a:srgbClr val="1C2A3A"/>
                    </a:solidFill>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solidFill>
                      <a:srgbClr val="1C2A3A"/>
                    </a:solidFill>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solidFill>
                      <a:srgbClr val="1C2A3A"/>
                    </a:solidFill>
                  </a:tcPr>
                </a:tc>
              </a:tr>
              <a:tr h="36576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Zero-Shot (Llama-3.3-70B)</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82.5%</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0.821</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r h="36576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Few-Shot (Llama-3.3-70B)</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87.5%</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b="1" dirty="0">
                          <a:solidFill>
                            <a:srgbClr val="FFC627"/>
                          </a:solidFill>
                          <a:latin typeface="Calibri" pitchFamily="34" charset="0"/>
                          <a:ea typeface="Calibri" pitchFamily="34" charset="-122"/>
                          <a:cs typeface="Calibri" pitchFamily="34" charset="-120"/>
                        </a:rPr>
                        <a:t>0.873</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r h="365760">
                <a:tc>
                  <a:txBody>
                    <a:bodyPr/>
                    <a:lstStyle/>
                    <a:p>
                      <a:pPr indent="0" marL="0">
                        <a:buNone/>
                      </a:pPr>
                      <a:r>
                        <a:rPr sz="1200">
                          <a:solidFill>
                            <a:srgbClr val="E2E8F0"/>
                          </a:solidFill>
                          <a:latin typeface="Calibri"/>
                        </a:rPr>
                        <a:t>Few-Shot (gpt-oss-120b)</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85.0%</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dirty="0">
                          <a:solidFill>
                            <a:srgbClr val="E2E8F0"/>
                          </a:solidFill>
                          <a:latin typeface="Calibri" pitchFamily="34" charset="0"/>
                          <a:ea typeface="Calibri" pitchFamily="34" charset="-122"/>
                          <a:cs typeface="Calibri" pitchFamily="34" charset="-120"/>
                        </a:rPr>
                        <a:t>0.848</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r h="365760">
                <a:tc>
                  <a:txBody>
                    <a:bodyPr/>
                    <a:lstStyle/>
                    <a:p>
                      <a:pPr indent="0" marL="0">
                        <a:buNone/>
                      </a:pPr>
                      <a:r>
                        <a:rPr lang="en-US" sz="1200" i="1" dirty="0">
                          <a:solidFill>
                            <a:srgbClr val="8B9CB6"/>
                          </a:solidFill>
                          <a:latin typeface="Calibri" pitchFamily="34" charset="0"/>
                          <a:ea typeface="Calibri" pitchFamily="34" charset="-122"/>
                          <a:cs typeface="Calibri" pitchFamily="34" charset="-120"/>
                        </a:rPr>
                        <a:t>LA2 SVM Baseline</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i="1" dirty="0">
                          <a:solidFill>
                            <a:srgbClr val="8B9CB6"/>
                          </a:solidFill>
                          <a:latin typeface="Calibri" pitchFamily="34" charset="0"/>
                          <a:ea typeface="Calibri" pitchFamily="34" charset="-122"/>
                          <a:cs typeface="Calibri" pitchFamily="34" charset="-120"/>
                        </a:rPr>
                        <a:t>95.7%</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c>
                  <a:txBody>
                    <a:bodyPr/>
                    <a:lstStyle/>
                    <a:p>
                      <a:pPr algn="ctr" indent="0" marL="0">
                        <a:buNone/>
                      </a:pPr>
                      <a:r>
                        <a:rPr lang="en-US" sz="1200" i="1" dirty="0">
                          <a:solidFill>
                            <a:srgbClr val="8B9CB6"/>
                          </a:solidFill>
                          <a:latin typeface="Calibri" pitchFamily="34" charset="0"/>
                          <a:ea typeface="Calibri" pitchFamily="34" charset="-122"/>
                          <a:cs typeface="Calibri" pitchFamily="34" charset="-120"/>
                        </a:rPr>
                        <a:t>0.956</a:t>
                      </a:r>
                      <a:endParaRPr lang="en-US" sz="1200" dirty="0">
                        <a:latin typeface="Calibri" charset="0"/>
                        <a:ea typeface="Calibri" charset="0"/>
                        <a:cs typeface="Calibri" charset="0"/>
                      </a:endParaRPr>
                    </a:p>
                  </a:txBody>
                  <a:tcPr marL="91440" marR="91440" marT="45720" marB="45720">
                    <a:lnL w="6350" cap="flat" cmpd="sng" algn="ctr">
                      <a:solidFill>
                        <a:srgbClr val="1C2A3A"/>
                      </a:solidFill>
                      <a:prstDash val="solid"/>
                      <a:round/>
                      <a:headEnd type="none" w="med" len="med"/>
                      <a:tailEnd type="none" w="med" len="med"/>
                    </a:lnL>
                    <a:lnR w="6350" cap="flat" cmpd="sng" algn="ctr">
                      <a:solidFill>
                        <a:srgbClr val="1C2A3A"/>
                      </a:solidFill>
                      <a:prstDash val="solid"/>
                      <a:round/>
                      <a:headEnd type="none" w="med" len="med"/>
                      <a:tailEnd type="none" w="med" len="med"/>
                    </a:lnR>
                    <a:lnT w="6350" cap="flat" cmpd="sng" algn="ctr">
                      <a:solidFill>
                        <a:srgbClr val="1C2A3A"/>
                      </a:solidFill>
                      <a:prstDash val="solid"/>
                      <a:round/>
                      <a:headEnd type="none" w="med" len="med"/>
                      <a:tailEnd type="none" w="med" len="med"/>
                    </a:lnT>
                    <a:lnB w="6350" cap="flat" cmpd="sng" algn="ctr">
                      <a:solidFill>
                        <a:srgbClr val="1C2A3A"/>
                      </a:solidFill>
                      <a:prstDash val="solid"/>
                      <a:round/>
                      <a:headEnd type="none" w="med" len="med"/>
                      <a:tailEnd type="none" w="med" len="med"/>
                    </a:lnB>
                  </a:tcPr>
                </a:tc>
              </a:tr>
            </a:tbl>
          </a:graphicData>
        </a:graphic>
      </p:graphicFrame>
      <p:sp>
        <p:nvSpPr>
          <p:cNvPr id="4" name="Text 1"/>
          <p:cNvSpPr/>
          <p:nvPr/>
        </p:nvSpPr>
        <p:spPr>
          <a:xfrm>
            <a:off x="548640" y="3383280"/>
            <a:ext cx="7772400" cy="731520"/>
          </a:xfrm>
          <a:prstGeom prst="rect">
            <a:avLst/>
          </a:prstGeom>
          <a:noFill/>
          <a:ln/>
        </p:spPr>
        <p:txBody>
          <a:bodyPr wrap="square" rtlCol="0" anchor="ctr"/>
          <a:lstStyle/>
          <a:p>
            <a:pPr indent="0" marL="0">
              <a:buNone/>
            </a:pPr>
            <a:r>
              <a:rPr sz="1200">
                <a:solidFill>
                  <a:srgbClr val="E2E8F0"/>
                </a:solidFill>
                <a:latin typeface="Calibri"/>
              </a:rPr>
              <a:t>VADER + traditional ML outperforms LLM prompting at scale on this task.</a:t>
            </a:r>
            <a:endParaRPr lang="en-US" sz="1200" dirty="0"/>
          </a:p>
          <a:p>
            <a:r>
              <a:rPr sz="1200">
                <a:solidFill>
                  <a:srgbClr val="E2E8F0"/>
                </a:solidFill>
                <a:latin typeface="Calibri"/>
              </a:rPr>
              <a:t>Few-shot closes the gap by 5 points over zero-shot. Multi-model agreement becomes a feature in the XGBoost layer, not a replacement.</a:t>
            </a:r>
          </a:p>
          <a:p>
            <a:r>
              <a:rPr sz="1200">
                <a:solidFill>
                  <a:srgbClr val="E2E8F0"/>
                </a:solidFill>
                <a:latin typeface="Calibri"/>
              </a:rPr>
              <a:t>Run on a 40-review balanced subset. Cached predictions persist in outputs/llm_agreement.csv so the pipeline runs without a Groq API key.</a:t>
            </a:r>
          </a:p>
        </p:txBody>
      </p:sp>
      <p:sp>
        <p:nvSpPr>
          <p:cNvPr id="5" name="Text 2"/>
          <p:cNvSpPr/>
          <p:nvPr/>
        </p:nvSpPr>
        <p:spPr>
          <a:xfrm>
            <a:off x="548640" y="4663440"/>
            <a:ext cx="8229600" cy="228600"/>
          </a:xfrm>
          <a:prstGeom prst="rect">
            <a:avLst/>
          </a:prstGeom>
          <a:noFill/>
          <a:ln/>
        </p:spPr>
        <p:txBody>
          <a:bodyPr wrap="square" rtlCol="0" anchor="ctr"/>
          <a:lstStyle/>
          <a:p>
            <a:pPr indent="0" marL="0">
              <a:buNone/>
            </a:pPr>
            <a:r>
              <a:rPr lang="en-US" sz="900" spc="150" kern="0" dirty="0">
                <a:solidFill>
                  <a:srgbClr val="8B9CB6"/>
                </a:solidFill>
                <a:latin typeface="Calibri" pitchFamily="34" charset="0"/>
                <a:ea typeface="Calibri" pitchFamily="34" charset="-122"/>
                <a:cs typeface="Calibri" pitchFamily="34" charset="-120"/>
              </a:rPr>
              <a:t>NLP Method 3 of 3  |  25% of rubric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XGBoost synthesizes all three signals.</a:t>
            </a:r>
            <a:endParaRPr lang="en-US" sz="2800" dirty="0"/>
          </a:p>
        </p:txBody>
      </p:sp>
      <p:pic>
        <p:nvPicPr>
          <p:cNvPr id="6" name="Picture 5" descr="image.png"/>
          <p:cNvPicPr>
            <a:picLocks noChangeAspect="1"/>
          </p:cNvPicPr>
          <p:nvPr/>
        </p:nvPicPr>
        <p:blipFill>
          <a:blip r:embed="rId4"/>
          <a:stretch>
            <a:fillRect/>
          </a:stretch>
        </p:blipFill>
        <p:spPr>
          <a:xfrm>
            <a:off x="5303520" y="1097280"/>
            <a:ext cx="3474720" cy="3200400"/>
          </a:xfrm>
          <a:prstGeom prst="rect">
            <a:avLst/>
          </a:prstGeom>
        </p:spPr>
      </p:pic>
      <p:pic>
        <p:nvPicPr>
          <p:cNvPr id="7" name="Picture 6" descr="image.png"/>
          <p:cNvPicPr>
            <a:picLocks noChangeAspect="1"/>
          </p:cNvPicPr>
          <p:nvPr/>
        </p:nvPicPr>
        <p:blipFill>
          <a:blip r:embed="rId4"/>
          <a:stretch>
            <a:fillRect/>
          </a:stretch>
        </p:blipFill>
        <p:spPr>
          <a:xfrm>
            <a:off x="274320" y="1097280"/>
            <a:ext cx="4754880" cy="3017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The gap is what fake reviews were worth.</a:t>
            </a:r>
            <a:endParaRPr lang="en-US" sz="2800" dirty="0"/>
          </a:p>
        </p:txBody>
      </p:sp>
      <p:pic>
        <p:nvPicPr>
          <p:cNvPr id="5" name="Picture 4" descr="top10_raw_vs_adjusted.png"/>
          <p:cNvPicPr>
            <a:picLocks noChangeAspect="1"/>
          </p:cNvPicPr>
          <p:nvPr/>
        </p:nvPicPr>
        <p:blipFill>
          <a:blip r:embed="rId4"/>
          <a:stretch>
            <a:fillRect/>
          </a:stretch>
        </p:blipFill>
        <p:spPr>
          <a:xfrm>
            <a:off x="274320" y="1005840"/>
            <a:ext cx="8595360" cy="2743200"/>
          </a:xfrm>
          <a:prstGeom prst="rect">
            <a:avLst/>
          </a:prstGeom>
        </p:spPr>
      </p:pic>
      <p:pic>
        <p:nvPicPr>
          <p:cNvPr id="6" name="Picture 5" descr="image.png"/>
          <p:cNvPicPr>
            <a:picLocks noChangeAspect="1"/>
          </p:cNvPicPr>
          <p:nvPr/>
        </p:nvPicPr>
        <p:blipFill>
          <a:blip r:embed="rId4"/>
          <a:stretch>
            <a:fillRect/>
          </a:stretch>
        </p:blipFill>
        <p:spPr>
          <a:xfrm>
            <a:off x="548640" y="4023360"/>
            <a:ext cx="8229600" cy="457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E2E8F0"/>
                </a:solidFill>
                <a:latin typeface="Calibri" pitchFamily="34" charset="0"/>
                <a:ea typeface="Calibri" pitchFamily="34" charset="-122"/>
                <a:cs typeface="Calibri" pitchFamily="34" charset="-120"/>
              </a:rPr>
              <a:t>What this is. What it is not.</a:t>
            </a:r>
            <a:endParaRPr lang="en-US" sz="2800" dirty="0"/>
          </a:p>
        </p:txBody>
      </p:sp>
      <p:sp>
        <p:nvSpPr>
          <p:cNvPr id="3" name="Text 1"/>
          <p:cNvSpPr/>
          <p:nvPr/>
        </p:nvSpPr>
        <p:spPr>
          <a:xfrm>
            <a:off x="548640" y="1097280"/>
            <a:ext cx="2560320" cy="274320"/>
          </a:xfrm>
          <a:prstGeom prst="rect">
            <a:avLst/>
          </a:prstGeom>
          <a:noFill/>
          <a:ln/>
        </p:spPr>
        <p:txBody>
          <a:bodyPr wrap="square" rtlCol="0" anchor="ctr"/>
          <a:lstStyle/>
          <a:p>
            <a:pPr indent="0" marL="0">
              <a:buNone/>
            </a:pPr>
            <a:r>
              <a:rPr lang="en-US" sz="1200" b="1" dirty="0">
                <a:solidFill>
                  <a:srgbClr val="FFC627"/>
                </a:solidFill>
                <a:latin typeface="Calibri" pitchFamily="34" charset="0"/>
                <a:ea typeface="Calibri" pitchFamily="34" charset="-122"/>
                <a:cs typeface="Calibri" pitchFamily="34" charset="-120"/>
              </a:rPr>
              <a:t>Delivered</a:t>
            </a:r>
            <a:endParaRPr lang="en-US" sz="1200" dirty="0"/>
          </a:p>
        </p:txBody>
      </p:sp>
      <p:sp>
        <p:nvSpPr>
          <p:cNvPr id="4" name="Text 2"/>
          <p:cNvSpPr/>
          <p:nvPr/>
        </p:nvSpPr>
        <p:spPr>
          <a:xfrm>
            <a:off x="548640" y="1417320"/>
            <a:ext cx="2560320" cy="1645920"/>
          </a:xfrm>
          <a:prstGeom prst="rect">
            <a:avLst/>
          </a:prstGeom>
          <a:noFill/>
          <a:ln/>
        </p:spPr>
        <p:txBody>
          <a:bodyPr wrap="square" rtlCol="0" anchor="ctr"/>
          <a:lstStyle/>
          <a:p>
            <a:pPr marL="342900" indent="-342900">
              <a:spcAft>
                <a:spcPts val="400"/>
              </a:spcAft>
              <a:buSzPct val="100000"/>
              <a:buChar char="•"/>
            </a:pPr>
            <a:r>
              <a:rPr sz="1100">
                <a:solidFill>
                  <a:srgbClr val="E2E8F0"/>
                </a:solidFill>
                <a:latin typeface="Calibri"/>
              </a:rPr>
              <a:t>Three NLP methods on one corpus</a:t>
            </a:r>
            <a:endParaRPr lang="en-US" sz="1100" dirty="0"/>
          </a:p>
          <a:p>
            <a:r>
              <a:rPr sz="1100">
                <a:solidFill>
                  <a:srgbClr val="E2E8F0"/>
                </a:solidFill>
                <a:latin typeface="Calibri"/>
              </a:rPr>
              <a:t>XGBoost synthesis classifier with proxy label</a:t>
            </a:r>
          </a:p>
          <a:p>
            <a:r>
              <a:rPr sz="1100">
                <a:solidFill>
                  <a:srgbClr val="E2E8F0"/>
                </a:solidFill>
                <a:latin typeface="Calibri"/>
              </a:rPr>
              <a:t>Dual-hash receipts per business (SHA-256 + BLAKE3)</a:t>
            </a:r>
          </a:p>
          <a:p>
            <a:r>
              <a:rPr sz="1100">
                <a:solidFill>
                  <a:srgbClr val="E2E8F0"/>
                </a:solidFill>
                <a:latin typeface="Calibri"/>
              </a:rPr>
              <a:t>Static dashboard, client-side hash verification</a:t>
            </a:r>
          </a:p>
          <a:p>
            <a:r>
              <a:rPr sz="1100">
                <a:solidFill>
                  <a:srgbClr val="E2E8F0"/>
                </a:solidFill>
                <a:latin typeface="Calibri"/>
              </a:rPr>
              <a:t>MCP server, query / verify / topology</a:t>
            </a:r>
          </a:p>
          <a:p>
            <a:r>
              <a:rPr sz="1100">
                <a:solidFill>
                  <a:srgbClr val="E2E8F0"/>
                </a:solidFill>
                <a:latin typeface="Calibri"/>
              </a:rPr>
              <a:t>Reproducible Codespaces pipeline, weekly auto-refresh</a:t>
            </a:r>
          </a:p>
        </p:txBody>
      </p:sp>
      <p:sp>
        <p:nvSpPr>
          <p:cNvPr id="5" name="Text 3"/>
          <p:cNvSpPr/>
          <p:nvPr/>
        </p:nvSpPr>
        <p:spPr>
          <a:xfrm>
            <a:off x="3383280" y="1097280"/>
            <a:ext cx="2560320" cy="274320"/>
          </a:xfrm>
          <a:prstGeom prst="rect">
            <a:avLst/>
          </a:prstGeom>
          <a:noFill/>
          <a:ln/>
        </p:spPr>
        <p:txBody>
          <a:bodyPr wrap="square" rtlCol="0" anchor="ctr"/>
          <a:lstStyle/>
          <a:p>
            <a:pPr indent="0" marL="0">
              <a:buNone/>
            </a:pPr>
            <a:r>
              <a:rPr lang="en-US" sz="1200" b="1" dirty="0">
                <a:solidFill>
                  <a:srgbClr val="E2E8F0"/>
                </a:solidFill>
                <a:latin typeface="Calibri" pitchFamily="34" charset="0"/>
                <a:ea typeface="Calibri" pitchFamily="34" charset="-122"/>
                <a:cs typeface="Calibri" pitchFamily="34" charset="-120"/>
              </a:rPr>
              <a:t>Limitations</a:t>
            </a:r>
            <a:endParaRPr lang="en-US" sz="1200" dirty="0"/>
          </a:p>
        </p:txBody>
      </p:sp>
      <p:sp>
        <p:nvSpPr>
          <p:cNvPr id="6" name="Text 4"/>
          <p:cNvSpPr/>
          <p:nvPr/>
        </p:nvSpPr>
        <p:spPr>
          <a:xfrm>
            <a:off x="3383280" y="1417320"/>
            <a:ext cx="2560320" cy="1645920"/>
          </a:xfrm>
          <a:prstGeom prst="rect">
            <a:avLst/>
          </a:prstGeom>
          <a:noFill/>
          <a:ln/>
        </p:spPr>
        <p:txBody>
          <a:bodyPr wrap="square" rtlCol="0" anchor="ctr"/>
          <a:lstStyle/>
          <a:p>
            <a:pPr marL="342900" indent="-342900">
              <a:spcAft>
                <a:spcPts val="400"/>
              </a:spcAft>
              <a:buSzPct val="100000"/>
              <a:buChar char="•"/>
            </a:pPr>
            <a:r>
              <a:rPr sz="1100">
                <a:solidFill>
                  <a:srgbClr val="8B9CB6"/>
                </a:solidFill>
                <a:latin typeface="Calibri"/>
              </a:rPr>
              <a:t>No ground truth fake-review labels exist</a:t>
            </a:r>
            <a:endParaRPr lang="en-US" sz="1100" dirty="0"/>
          </a:p>
          <a:p>
            <a:r>
              <a:rPr sz="1100">
                <a:solidFill>
                  <a:srgbClr val="8B9CB6"/>
                </a:solidFill>
                <a:latin typeface="Calibri"/>
              </a:rPr>
              <a:t>Proxy label circularity (disclosed in receipts)</a:t>
            </a:r>
          </a:p>
          <a:p>
            <a:r>
              <a:rPr sz="1100">
                <a:solidFill>
                  <a:srgbClr val="8B9CB6"/>
                </a:solidFill>
                <a:latin typeface="Calibri"/>
              </a:rPr>
              <a:t>Arizona restaurants only</a:t>
            </a:r>
          </a:p>
          <a:p>
            <a:r>
              <a:rPr sz="1100">
                <a:solidFill>
                  <a:srgbClr val="8B9CB6"/>
                </a:solidFill>
                <a:latin typeface="Calibri"/>
              </a:rPr>
              <a:t>Account features excluded per professor guidance</a:t>
            </a:r>
          </a:p>
          <a:p>
            <a:r>
              <a:rPr sz="1100">
                <a:solidFill>
                  <a:srgbClr val="8B9CB6"/>
                </a:solidFill>
                <a:latin typeface="Calibri"/>
              </a:rPr>
              <a:t>On this corpus, deltas are small (top-1 ~0.20)</a:t>
            </a:r>
          </a:p>
          <a:p>
            <a:r>
              <a:rPr sz="1100">
                <a:solidFill>
                  <a:srgbClr val="8B9CB6"/>
                </a:solidFill>
                <a:latin typeface="Calibri"/>
              </a:rPr>
              <a:t>LLM accuracy below SVM baseline at the subset scale</a:t>
            </a:r>
          </a:p>
        </p:txBody>
      </p:sp>
      <p:sp>
        <p:nvSpPr>
          <p:cNvPr id="7" name="Text 5"/>
          <p:cNvSpPr/>
          <p:nvPr/>
        </p:nvSpPr>
        <p:spPr>
          <a:xfrm>
            <a:off x="6217920" y="1097280"/>
            <a:ext cx="2560320" cy="274320"/>
          </a:xfrm>
          <a:prstGeom prst="rect">
            <a:avLst/>
          </a:prstGeom>
          <a:noFill/>
          <a:ln/>
        </p:spPr>
        <p:txBody>
          <a:bodyPr wrap="square" rtlCol="0" anchor="ctr"/>
          <a:lstStyle/>
          <a:p>
            <a:pPr indent="0" marL="0">
              <a:buNone/>
            </a:pPr>
            <a:r>
              <a:rPr lang="en-US" sz="1200" b="1" dirty="0">
                <a:solidFill>
                  <a:srgbClr val="E2E8F0"/>
                </a:solidFill>
                <a:latin typeface="Calibri" pitchFamily="34" charset="0"/>
                <a:ea typeface="Calibri" pitchFamily="34" charset="-122"/>
                <a:cs typeface="Calibri" pitchFamily="34" charset="-120"/>
              </a:rPr>
              <a:t>Future Work</a:t>
            </a:r>
            <a:endParaRPr lang="en-US" sz="1200" dirty="0"/>
          </a:p>
        </p:txBody>
      </p:sp>
      <p:sp>
        <p:nvSpPr>
          <p:cNvPr id="8" name="Text 6"/>
          <p:cNvSpPr/>
          <p:nvPr/>
        </p:nvSpPr>
        <p:spPr>
          <a:xfrm>
            <a:off x="6217920" y="1417320"/>
            <a:ext cx="2560320" cy="1645920"/>
          </a:xfrm>
          <a:prstGeom prst="rect">
            <a:avLst/>
          </a:prstGeom>
          <a:noFill/>
          <a:ln/>
        </p:spPr>
        <p:txBody>
          <a:bodyPr wrap="square" rtlCol="0" anchor="ctr"/>
          <a:lstStyle/>
          <a:p>
            <a:pPr marL="342900" indent="-342900">
              <a:spcAft>
                <a:spcPts val="400"/>
              </a:spcAft>
              <a:buSzPct val="100000"/>
              <a:buChar char="•"/>
            </a:pPr>
            <a:r>
              <a:rPr sz="1100">
                <a:solidFill>
                  <a:srgbClr val="8B9CB6"/>
                </a:solidFill>
                <a:latin typeface="Calibri"/>
              </a:rPr>
              <a:t>Add account-level features when available</a:t>
            </a:r>
            <a:endParaRPr lang="en-US" sz="1100" dirty="0"/>
          </a:p>
          <a:p>
            <a:r>
              <a:rPr sz="1100">
                <a:solidFill>
                  <a:srgbClr val="8B9CB6"/>
                </a:solidFill>
                <a:latin typeface="Calibri"/>
              </a:rPr>
              <a:t>Expand to national Yelp dataset</a:t>
            </a:r>
          </a:p>
          <a:p>
            <a:r>
              <a:rPr sz="1100">
                <a:solidFill>
                  <a:srgbClr val="8B9CB6"/>
                </a:solidFill>
                <a:latin typeface="Calibri"/>
              </a:rPr>
              <a:t>Train on labeled fake reviews if obtainable</a:t>
            </a:r>
          </a:p>
          <a:p>
            <a:r>
              <a:rPr sz="1100">
                <a:solidFill>
                  <a:srgbClr val="8B9CB6"/>
                </a:solidFill>
                <a:latin typeface="Calibri"/>
              </a:rPr>
              <a:t>Temporal burst detection per business</a:t>
            </a:r>
          </a:p>
          <a:p>
            <a:r>
              <a:rPr sz="1100">
                <a:solidFill>
                  <a:srgbClr val="8B9CB6"/>
                </a:solidFill>
                <a:latin typeface="Calibri"/>
              </a:rPr>
              <a:t>BLAKE3 client-side verify in the browser</a:t>
            </a:r>
          </a:p>
          <a:p>
            <a:r>
              <a:rPr sz="1100">
                <a:solidFill>
                  <a:srgbClr val="8B9CB6"/>
                </a:solidFill>
                <a:latin typeface="Calibri"/>
              </a:rPr>
              <a:t>Quantum-resistant receipt signing</a:t>
            </a:r>
          </a:p>
        </p:txBody>
      </p:sp>
      <p:sp>
        <p:nvSpPr>
          <p:cNvPr id="9" name="Text 7"/>
          <p:cNvSpPr/>
          <p:nvPr/>
        </p:nvSpPr>
        <p:spPr>
          <a:xfrm>
            <a:off x="548640" y="4663440"/>
            <a:ext cx="8229600" cy="228600"/>
          </a:xfrm>
          <a:prstGeom prst="rect">
            <a:avLst/>
          </a:prstGeom>
          <a:noFill/>
          <a:ln/>
        </p:spPr>
        <p:txBody>
          <a:bodyPr wrap="square" rtlCol="0" anchor="ctr"/>
          <a:lstStyle/>
          <a:p>
            <a:pPr indent="0" marL="0">
              <a:buNone/>
            </a:pPr>
            <a:r>
              <a:rPr lang="en-US" sz="1000" dirty="0">
                <a:solidFill>
                  <a:srgbClr val="8B9CB6"/>
                </a:solidFill>
                <a:latin typeface="Calibri" pitchFamily="34" charset="0"/>
                <a:ea typeface="Calibri" pitchFamily="34" charset="-122"/>
                <a:cs typeface="Calibri" pitchFamily="34" charset="-120"/>
              </a:rPr>
              <a:t>Matthew Cook  |  MCOOK20  |  CIS 509  |  ASU W.P. Carey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Matthew Cook</dc:creator>
  <cp:lastModifiedBy>Matthew Cook</cp:lastModifiedBy>
  <cp:revision>1</cp:revision>
  <dcterms:created xsi:type="dcterms:W3CDTF">2026-05-02T10:41:35Z</dcterms:created>
  <dcterms:modified xsi:type="dcterms:W3CDTF">2026-05-02T10:41:35Z</dcterms:modified>
</cp:coreProperties>
</file>